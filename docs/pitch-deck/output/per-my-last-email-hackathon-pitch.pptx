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cc7879ea5c49c1" /><Relationship Type="http://schemas.openxmlformats.org/officeDocument/2006/relationships/extended-properties" Target="/docProps/app.xml" Id="Rc26815942256414d" /><Relationship Type="http://schemas.openxmlformats.org/officeDocument/2006/relationships/officeDocument" Target="/ppt/presentation.xml" Id="R95041bbc28ad42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8e4d3acc58432f"/>
  </p:sldMasterIdLst>
  <p:notesMasterIdLst>
    <p:notesMasterId xmlns:r="http://schemas.openxmlformats.org/officeDocument/2006/relationships" r:id="R7589c654e4ab49d8"/>
  </p:notesMasterIdLst>
  <p:sldIdLst>
    <p:sldId xmlns:r="http://schemas.openxmlformats.org/officeDocument/2006/relationships" id="256" r:id="R06ab27a6bd0f4124"/>
    <p:sldId xmlns:r="http://schemas.openxmlformats.org/officeDocument/2006/relationships" id="257" r:id="R1290a82a38bd4161"/>
    <p:sldId xmlns:r="http://schemas.openxmlformats.org/officeDocument/2006/relationships" id="258" r:id="Rd658c7809d41482c"/>
    <p:sldId xmlns:r="http://schemas.openxmlformats.org/officeDocument/2006/relationships" id="259" r:id="R1306d1ca33ac45f2"/>
    <p:sldId xmlns:r="http://schemas.openxmlformats.org/officeDocument/2006/relationships" id="260" r:id="R61c0b16a23a84b38"/>
    <p:sldId xmlns:r="http://schemas.openxmlformats.org/officeDocument/2006/relationships" id="261" r:id="R155b27fb9eb3497e"/>
    <p:sldId xmlns:r="http://schemas.openxmlformats.org/officeDocument/2006/relationships" id="262" r:id="R4dd4ea76c52c481f"/>
    <p:sldId xmlns:r="http://schemas.openxmlformats.org/officeDocument/2006/relationships" id="263" r:id="R7b310b788fac42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3f2303561a4ef8" /><Relationship Type="http://schemas.openxmlformats.org/officeDocument/2006/relationships/slideMaster" Target="/ppt/slideMasters/slideMaster1.xml" Id="R298e4d3acc58432f" /><Relationship Type="http://schemas.openxmlformats.org/officeDocument/2006/relationships/notesMaster" Target="/ppt/notesMasters/notesMaster1.xml" Id="R7589c654e4ab49d8" /><Relationship Type="http://schemas.openxmlformats.org/officeDocument/2006/relationships/presProps" Target="/ppt/presProps.xml" Id="R0cb46e981b784cba" /><Relationship Type="http://schemas.openxmlformats.org/officeDocument/2006/relationships/viewProps" Target="/ppt/viewProps.xml" Id="Rcc212db1e43047e6" /><Relationship Type="http://schemas.openxmlformats.org/officeDocument/2006/relationships/tableStyles" Target="/ppt/tableStyles.xml" Id="Rcfeebed4a2d34b0d" /><Relationship Type="http://schemas.openxmlformats.org/officeDocument/2006/relationships/slide" Target="/ppt/slides/slide1.xml" Id="R06ab27a6bd0f4124" /><Relationship Type="http://schemas.openxmlformats.org/officeDocument/2006/relationships/slide" Target="/ppt/slides/slide2.xml" Id="R1290a82a38bd4161" /><Relationship Type="http://schemas.openxmlformats.org/officeDocument/2006/relationships/slide" Target="/ppt/slides/slide3.xml" Id="Rd658c7809d41482c" /><Relationship Type="http://schemas.openxmlformats.org/officeDocument/2006/relationships/slide" Target="/ppt/slides/slide4.xml" Id="R1306d1ca33ac45f2" /><Relationship Type="http://schemas.openxmlformats.org/officeDocument/2006/relationships/slide" Target="/ppt/slides/slide5.xml" Id="R61c0b16a23a84b38" /><Relationship Type="http://schemas.openxmlformats.org/officeDocument/2006/relationships/slide" Target="/ppt/slides/slide6.xml" Id="R155b27fb9eb3497e" /><Relationship Type="http://schemas.openxmlformats.org/officeDocument/2006/relationships/slide" Target="/ppt/slides/slide7.xml" Id="R4dd4ea76c52c481f" /><Relationship Type="http://schemas.openxmlformats.org/officeDocument/2006/relationships/slide" Target="/ppt/slides/slide8.xml" Id="R7b310b788fac42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b60c92f88548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ac9919b0044932" /><Relationship Type="http://schemas.openxmlformats.org/officeDocument/2006/relationships/notesMaster" Target="/ppt/notesMasters/notesMaster1.xml" Id="R4d2bf73dbbc64e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c5d588ed4e47f9" /><Relationship Type="http://schemas.openxmlformats.org/officeDocument/2006/relationships/notesMaster" Target="/ppt/notesMasters/notesMaster1.xml" Id="R1a47ebfd9baf40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086eb4509d4bb2" /><Relationship Type="http://schemas.openxmlformats.org/officeDocument/2006/relationships/notesMaster" Target="/ppt/notesMasters/notesMaster1.xml" Id="Re146bb55621e4d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c8af7a72fc454d" /><Relationship Type="http://schemas.openxmlformats.org/officeDocument/2006/relationships/notesMaster" Target="/ppt/notesMasters/notesMaster1.xml" Id="Ra9f82fa6239c4f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1c9cddaea1415a" /><Relationship Type="http://schemas.openxmlformats.org/officeDocument/2006/relationships/notesMaster" Target="/ppt/notesMasters/notesMaster1.xml" Id="Rfc7a676978a344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4c4995459f4106" /><Relationship Type="http://schemas.openxmlformats.org/officeDocument/2006/relationships/notesMaster" Target="/ppt/notesMasters/notesMaster1.xml" Id="Rcffbb2f4e39d4f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7d57a298c045ed" /><Relationship Type="http://schemas.openxmlformats.org/officeDocument/2006/relationships/notesMaster" Target="/ppt/notesMasters/notesMaster1.xml" Id="Rf2bd19c1396e4e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856b801c3a4a7a" /><Relationship Type="http://schemas.openxmlformats.org/officeDocument/2006/relationships/notesMaster" Target="/ppt/notesMasters/notesMaster1.xml" Id="R10d1f56d306b47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Cold open. Everyone says "reach younger shoppers" for Shopee SG 11.11. A summarizer marks alignment. Growth means acquisition and app installs; Commerce means GMV and voucher redemption; the Campaign Lead means mainstream-safe youth reach. Same phrase, different assumptions. Introduce Mochi as the Slack-native pre-meeting crux finder. Do not claim measured time savings or adoption; those are not in the source docs.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framing. Meetings do not fail only because people disagree. They fail because dangerous disagreement hides behind shared language. Walk judges through the Shopee creator-mix interpretations of "younger shoppers": Growth wants acquisition, Commerce wants GMV, and the Campaign Lead wants mainstream-safe youth relevance.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explanation. Mochi starts from a free-form Slack DM. John mentions the Shopee brief and Growth, Commerce, and Lead stakeholders. Mochi parses the roster, fans out to persistent participant agents, then a transient orchestrator compiles the compressed brief. Stop at the pre-meeting brief; do not show a final influencer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proof. Show the final Mochi brief shape. The brief compresses nine agenda items to two live agenda items: align the primary objective, then decide the creator role mix. Action items are three resolved and zero need an owner. Do not show a final influencer decision. Do not claim measured time savings; no such metric is in the docs.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core originality slide. The naive baseline looks only at positions, so it marks "support reaching younger shoppers" as agreed. The assumption-aware classifier compares success criteria and surfaces fake agreement: acquisition, GMV, and mainstream-safe youth reach are different objectives.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slide. Sell the frontier technology, not the backstage demo switches. Explain persistent participant sessions and ephemeral meeting orchestration through the OpenAI Agents SDK. Slack is the human interface; managed agents hold stance context; a transient orchestrator compares assumptions and dissolves. Mention tracing as proof if shown 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flow slide. This is for the presenter to keep the six-minute story tight: start with pain, show Mochi in Slack, show the agent fan-out, show the brief, contrast the naive baseline, then close on the vision. Mention raw eval output and metrics are not in the source docs only if asked.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Close. Bring the judges back to the sentence from the live script: meetings do not fail because people think they agree. Mochi catches the fake agreement before the hour is gone, inside Slack. Stop at the generated pre-meeting brief; do not imply a final influencer decision. Missing for final submission: GitHub/demo URLs, raw test output, live trace artifact, latency/reliability, and measured adoption/time-saved only if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5ca5d0836e40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39894bad3c4eaa" /><Relationship Type="http://schemas.openxmlformats.org/officeDocument/2006/relationships/slideLayout" Target="/ppt/slideLayouts/slideLayout1.xml" Id="Rdc5eedbad64942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5eedbad64942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0452bb3564e8c" /><Relationship Type="http://schemas.openxmlformats.org/officeDocument/2006/relationships/image" Target="/ppt/media/image.png" Id="Ra6b85ba0b030438f" /><Relationship Type="http://schemas.openxmlformats.org/officeDocument/2006/relationships/image" Target="/ppt/media/image2.png" Id="Rf7a3dbd99c52429e" /><Relationship Type="http://schemas.openxmlformats.org/officeDocument/2006/relationships/notesSlide" Target="/ppt/notesSlides/notesSlide1.xml" Id="Rf394c6d3c3f645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e158631004c81" /><Relationship Type="http://schemas.openxmlformats.org/officeDocument/2006/relationships/image" Target="/ppt/media/image3.png" Id="Rcbb7445d90fb41db" /><Relationship Type="http://schemas.openxmlformats.org/officeDocument/2006/relationships/notesSlide" Target="/ppt/notesSlides/notesSlide2.xml" Id="Ra79ac3bce37b45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d348842794b05" /><Relationship Type="http://schemas.openxmlformats.org/officeDocument/2006/relationships/image" Target="/ppt/media/image4.png" Id="Rc9d226f77a324c37" /><Relationship Type="http://schemas.openxmlformats.org/officeDocument/2006/relationships/notesSlide" Target="/ppt/notesSlides/notesSlide3.xml" Id="R063a9af4fe9d4b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2a5fbe41c4ac8" /><Relationship Type="http://schemas.openxmlformats.org/officeDocument/2006/relationships/image" Target="/ppt/media/image5.png" Id="R0199069fecff424f" /><Relationship Type="http://schemas.openxmlformats.org/officeDocument/2006/relationships/notesSlide" Target="/ppt/notesSlides/notesSlide4.xml" Id="R823fae8fa1c84e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9b4771c5e4cb6" /><Relationship Type="http://schemas.openxmlformats.org/officeDocument/2006/relationships/image" Target="/ppt/media/image6.png" Id="R769248a49960408b" /><Relationship Type="http://schemas.openxmlformats.org/officeDocument/2006/relationships/notesSlide" Target="/ppt/notesSlides/notesSlide5.xml" Id="R6fe89f1beb1448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f6db8bd7044b9" /><Relationship Type="http://schemas.openxmlformats.org/officeDocument/2006/relationships/image" Target="/ppt/media/image7.png" Id="R9ccbbf78483544bb" /><Relationship Type="http://schemas.openxmlformats.org/officeDocument/2006/relationships/notesSlide" Target="/ppt/notesSlides/notesSlide6.xml" Id="R5a74b96c6f1747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d4586ac6047ec" /><Relationship Type="http://schemas.openxmlformats.org/officeDocument/2006/relationships/image" Target="/ppt/media/image8.png" Id="R6559693d8d964fea" /><Relationship Type="http://schemas.openxmlformats.org/officeDocument/2006/relationships/notesSlide" Target="/ppt/notesSlides/notesSlide7.xml" Id="R41b70aa7dbc846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1ffe088404007" /><Relationship Type="http://schemas.openxmlformats.org/officeDocument/2006/relationships/image" Target="/ppt/media/image9.png" Id="Rc4917c6199ae4e35" /><Relationship Type="http://schemas.openxmlformats.org/officeDocument/2006/relationships/image" Target="/ppt/media/image10.png" Id="Ra4d07b2cb72c4ee5" /><Relationship Type="http://schemas.openxmlformats.org/officeDocument/2006/relationships/notesSlide" Target="/ppt/notesSlides/notesSlide8.xml" Id="Rbfed1204a7924a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85ba0b03043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11A7B-A9C8-413B-B04A-3C2FC4DF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5D605E"/>
                </a:solidFill>
                <a:latin typeface="Inter"/>
                <a:ea typeface="Inter"/>
                <a:cs typeface="Inter"/>
              </a:rPr>
              <a:t>PerMyLastEmail / Mochi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FD9E8-ECCC-42FE-8D77-F00B0060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619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4050">
                <a:solidFill>
                  <a:srgbClr val="181818"/>
                </a:solidFill>
                <a:latin typeface="Inter"/>
                <a:ea typeface="Inter"/>
                <a:cs typeface="Inter"/>
              </a:rPr>
              <a:t>Same phrase,</a:t>
            </a:r>
          </a:p>
          <a:p xmlns:a="http://schemas.openxmlformats.org/drawingml/2006/main">
            <a:r>
              <a:rPr sz="4050">
                <a:solidFill>
                  <a:srgbClr val="181818"/>
                </a:solidFill>
                <a:latin typeface="Inter"/>
                <a:ea typeface="Inter"/>
                <a:cs typeface="Inter"/>
              </a:rPr>
              <a:t>different goals.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6A9C8-2151-4F57-8A4E-8A877721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828"/>
                </a:solidFill>
                <a:latin typeface="Inter"/>
                <a:ea typeface="Inter"/>
                <a:cs typeface="Inter"/>
              </a:rPr>
              <a:t>Persistent personal agents + transient meeting orchestrator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4BC46-05E8-46BA-9DFB-00232A84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55B39-860F-4998-87D7-E2B1947D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5D605E"/>
                </a:solidFill>
                <a:latin typeface="Inter"/>
                <a:ea typeface="Inter"/>
                <a:cs typeface="Inter"/>
              </a:rPr>
              <a:t>Demo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DD168-EDF0-4751-8C8E-D16E26D7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81818"/>
                </a:solidFill>
                <a:latin typeface="Inter"/>
                <a:ea typeface="Inter"/>
                <a:cs typeface="Inter"/>
              </a:rPr>
              <a:t>Prepare Shopee SG 11.11 creator mix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3dbd99c5242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24400" y="3695700"/>
            <a:ext cx="1371600" cy="1371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85751-43CF-411C-91F2-A748EF6D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16255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82828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282828"/>
                </a:solidFill>
                <a:latin typeface="Inter"/>
                <a:ea typeface="Inter"/>
                <a:cs typeface="Inter"/>
              </a:rPr>
              <a:t>Mochi lives in Slack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67B39-9C1F-47AE-9B70-C86DF8CF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028700"/>
            <a:ext cx="3429000" cy="42291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CC529-F69C-4197-B03E-AFA889E8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3525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5D605E"/>
                </a:solidFill>
                <a:latin typeface="Inter"/>
                <a:ea typeface="Inter"/>
                <a:cs typeface="Inter"/>
              </a:rPr>
              <a:t>Slack pre-meeting digest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FABB3-0B2E-436B-9712-99E11F14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24050"/>
            <a:ext cx="1095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7200" b="1">
                <a:solidFill>
                  <a:srgbClr val="181818"/>
                </a:solidFill>
                <a:latin typeface="Inter"/>
                <a:ea typeface="Inter"/>
                <a:cs typeface="Inter"/>
              </a:rPr>
              <a:t>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D84BC-452F-4C03-9E06-A6500D86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765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D605E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5D605E"/>
                </a:solidFill>
                <a:latin typeface="Inter"/>
                <a:ea typeface="Inter"/>
                <a:cs typeface="Inter"/>
              </a:rPr>
              <a:t>items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03EFE-D194-4282-93A3-93E59EAA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860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5D605E"/>
                </a:solidFill>
                <a:latin typeface="Inter"/>
                <a:ea typeface="Inter"/>
                <a:cs typeface="Inter"/>
              </a:defRPr>
            </a:pPr>
            <a:r>
              <a:rPr sz="2250">
                <a:solidFill>
                  <a:srgbClr val="5D605E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E127A-024D-45EE-89A3-3B7E2D73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24050"/>
            <a:ext cx="904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282828"/>
                </a:solidFill>
                <a:latin typeface="Inter"/>
                <a:ea typeface="Inter"/>
                <a:cs typeface="Inter"/>
              </a:defRPr>
            </a:pPr>
            <a:r>
              <a:rPr sz="7200" b="1">
                <a:solidFill>
                  <a:srgbClr val="282828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802BA-310C-44D7-9A73-21CD48A2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765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D605E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5D605E"/>
                </a:solidFill>
                <a:latin typeface="Inter"/>
                <a:ea typeface="Inter"/>
                <a:cs typeface="Inter"/>
              </a:rPr>
              <a:t>meeting items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1D130-999A-4149-8372-24F3D4CB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FB06C-87D1-49B6-A6E0-FCD912BB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81400"/>
            <a:ext cx="2571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575">
                <a:solidFill>
                  <a:srgbClr val="181818"/>
                </a:solidFill>
                <a:latin typeface="Inter"/>
                <a:ea typeface="Inter"/>
                <a:cs typeface="Inter"/>
              </a:rPr>
              <a:t>objective: fake agreement</a:t>
            </a:r>
          </a:p>
          <a:p xmlns:a="http://schemas.openxmlformats.org/drawingml/2006/main">
            <a:r>
              <a:rPr sz="1575">
                <a:solidFill>
                  <a:srgbClr val="181818"/>
                </a:solidFill>
                <a:latin typeface="Inter"/>
                <a:ea typeface="Inter"/>
                <a:cs typeface="Inter"/>
              </a:rPr>
              <a:t>role mix: unresolved crux</a:t>
            </a:r>
          </a:p>
          <a:p xmlns:a="http://schemas.openxmlformats.org/drawingml/2006/main">
            <a:r>
              <a:rPr sz="1575">
                <a:solidFill>
                  <a:srgbClr val="181818"/>
                </a:solidFill>
                <a:latin typeface="Inter"/>
                <a:ea typeface="Inter"/>
                <a:cs typeface="Inter"/>
              </a:rPr>
              <a:t>3 action items resolved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F611BB-B89B-4B84-9D02-7DF6AEAD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750">
                <a:solidFill>
                  <a:srgbClr val="5D605E"/>
                </a:solidFill>
                <a:latin typeface="Inter"/>
                <a:ea typeface="Inter"/>
                <a:cs typeface="Inter"/>
              </a:rPr>
              <a:t>Sources: README, docs/overview.md, docs/pitch-script.md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C9248-CD4D-4121-8316-D5E6BE42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D605E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5D605E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063704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7445d90fb41d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6EC8A-A9DC-49D3-ABD4-4FA8569D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5D605E"/>
                </a:solidFill>
                <a:latin typeface="Inter"/>
                <a:ea typeface="Inter"/>
                <a:cs typeface="Inter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59218-6810-4807-B618-E9050D11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solidFill>
                  <a:srgbClr val="181818"/>
                </a:solidFill>
                <a:latin typeface="Inter"/>
                <a:ea typeface="Inter"/>
                <a:cs typeface="Inter"/>
              </a:rPr>
              <a:t>Poor prep turns meetings into</a:t>
            </a:r>
          </a:p>
          <a:p xmlns:a="http://schemas.openxmlformats.org/drawingml/2006/main">
            <a:r>
              <a:rPr sz="3000">
                <a:solidFill>
                  <a:srgbClr val="181818"/>
                </a:solidFill>
                <a:latin typeface="Inter"/>
                <a:ea typeface="Inter"/>
                <a:cs typeface="Inter"/>
              </a:rPr>
              <a:t>ambiguity cleanup.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857B3-877A-41E8-8D40-67367131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750">
                <a:solidFill>
                  <a:srgbClr val="5D605E"/>
                </a:solidFill>
                <a:latin typeface="Inter"/>
                <a:ea typeface="Inter"/>
                <a:cs typeface="Inter"/>
              </a:rPr>
              <a:t>Sources: docs/overview.md, docs/pitch-script.md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BE1E8-87D0-42F9-9454-87ED9BD0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D605E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5D605E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C3426-36AB-4AAC-A038-8A854A49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9530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DE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269F6-B610-44AB-AD66-FAEF6E26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81818"/>
                </a:solidFill>
                <a:latin typeface="Inter"/>
                <a:ea typeface="Inter"/>
                <a:cs typeface="Inter"/>
              </a:rPr>
              <a:t>"Reach younger</a:t>
            </a:r>
          </a:p>
          <a:p xmlns:a="http://schemas.openxmlformats.org/drawingml/2006/main">
            <a:r>
              <a:rPr sz="2400" b="1">
                <a:solidFill>
                  <a:srgbClr val="181818"/>
                </a:solidFill>
                <a:latin typeface="Inter"/>
                <a:ea typeface="Inter"/>
                <a:cs typeface="Inter"/>
              </a:rPr>
              <a:t>shoppers."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23999-E9FC-471F-AF39-8608F789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D605E"/>
                </a:solidFill>
                <a:latin typeface="Inter"/>
                <a:ea typeface="Inter"/>
                <a:cs typeface="Inter"/>
              </a:rPr>
              <a:t>A normal summarizer sees one phrase repeated and marks the objective as aligned.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08ADF-062C-4360-86F9-FD292717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1818"/>
                </a:solidFill>
                <a:latin typeface="Inter"/>
                <a:ea typeface="Inter"/>
                <a:cs typeface="Inter"/>
              </a:rPr>
              <a:t>But the success criteria underneath do not match.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E66EB-CE17-46A3-8030-4F2BA988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2038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9525">
            <a:solidFill>
              <a:srgbClr val="EDEDE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903FF-FD39-460A-8305-5C2286C7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479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282828"/>
                </a:solidFill>
                <a:latin typeface="Inter"/>
                <a:ea typeface="Inter"/>
                <a:cs typeface="Inter"/>
              </a:rPr>
              <a:t>Growth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2C1A7-5B9C-4224-8616-DD1523F0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125">
                <a:solidFill>
                  <a:srgbClr val="181818"/>
                </a:solidFill>
                <a:latin typeface="Inter"/>
                <a:ea typeface="Inter"/>
                <a:cs typeface="Inter"/>
              </a:rPr>
              <a:t>Acquisition, app installs, first purchases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A4E23-1D4F-454F-B4FE-7181BC4C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95500"/>
            <a:ext cx="2038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9525">
            <a:solidFill>
              <a:srgbClr val="EDEDE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77AFD-13C8-4F86-8A12-D7574965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479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282828"/>
                </a:solidFill>
                <a:latin typeface="Inter"/>
                <a:ea typeface="Inter"/>
                <a:cs typeface="Inter"/>
              </a:rPr>
              <a:t>Commerce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74D32-A0D4-42D9-80A6-2F521840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125">
                <a:solidFill>
                  <a:srgbClr val="181818"/>
                </a:solidFill>
                <a:latin typeface="Inter"/>
                <a:ea typeface="Inter"/>
                <a:cs typeface="Inter"/>
              </a:rPr>
              <a:t>GMV, voucher redemption, live conversion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722787-ADF4-460A-A283-6730ADC5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52800"/>
            <a:ext cx="2038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EDEDE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06D37E-03D3-4CB5-BF5A-6C579DE9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052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282828"/>
                </a:solidFill>
                <a:latin typeface="Inter"/>
                <a:ea typeface="Inter"/>
                <a:cs typeface="Inter"/>
              </a:rPr>
              <a:t>Campaign Lead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A58612-0B89-48A4-9929-AA5CF7E4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1475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125">
                <a:solidFill>
                  <a:srgbClr val="181818"/>
                </a:solidFill>
                <a:latin typeface="Inter"/>
                <a:ea typeface="Inter"/>
                <a:cs typeface="Inter"/>
              </a:rPr>
              <a:t>Mainstream-safe youth reach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AFA716-9F85-469F-8E3B-DD768958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52800"/>
            <a:ext cx="2038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282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BB1C5C-23E8-4830-A11B-F5B3EE9B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052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282828"/>
                </a:solidFill>
                <a:latin typeface="Inter"/>
                <a:ea typeface="Inter"/>
                <a:cs typeface="Inter"/>
              </a:rPr>
              <a:t>Naive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669C84-E2BF-441D-A6BB-3573F677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125">
                <a:solidFill>
                  <a:srgbClr val="181818"/>
                </a:solidFill>
                <a:latin typeface="Inter"/>
                <a:ea typeface="Inter"/>
                <a:cs typeface="Inter"/>
              </a:rPr>
              <a:t>Marks the objective agreed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7D58EC-722D-45D4-9BFF-7C6FF581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434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227FB2-0C83-4AA8-94A8-9B13DD4C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101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81818"/>
                </a:solidFill>
                <a:latin typeface="Inter"/>
                <a:ea typeface="Inter"/>
                <a:cs typeface="Inter"/>
              </a:rPr>
              <a:t>Product wedge: preserve meeting time for decisions, not assumption discovery.</a:t>
            </a:r>
          </a:p>
        </p:txBody>
      </p:sp>
    </p:spTree>
    <p:extLst>
      <p:ext uri="{BB962C8B-B14F-4D97-AF65-F5344CB8AC3E}">
        <p14:creationId xmlns:p14="http://schemas.microsoft.com/office/powerpoint/2010/main" val="17136972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226f77a324c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B9863-61C9-426E-A639-92FE13A8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5D605E"/>
                </a:solidFill>
                <a:latin typeface="Inter"/>
                <a:ea typeface="Inter"/>
                <a:cs typeface="Inter"/>
              </a:rPr>
              <a:t>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C174C-E092-4706-85DF-5FFA03A7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solidFill>
                  <a:srgbClr val="181818"/>
                </a:solidFill>
                <a:latin typeface="Inter"/>
                <a:ea typeface="Inter"/>
                <a:cs typeface="Inter"/>
              </a:rPr>
              <a:t>Mochi turns one Slack DM into</a:t>
            </a:r>
          </a:p>
          <a:p xmlns:a="http://schemas.openxmlformats.org/drawingml/2006/main">
            <a:r>
              <a:rPr sz="3000">
                <a:solidFill>
                  <a:srgbClr val="181818"/>
                </a:solidFill>
                <a:latin typeface="Inter"/>
                <a:ea typeface="Inter"/>
                <a:cs typeface="Inter"/>
              </a:rPr>
              <a:t>a pre-meeting brief.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0066B-D69E-4AAF-908B-055C57BD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750">
                <a:solidFill>
                  <a:srgbClr val="5D605E"/>
                </a:solidFill>
                <a:latin typeface="Inter"/>
                <a:ea typeface="Inter"/>
                <a:cs typeface="Inter"/>
              </a:rPr>
              <a:t>Sources: docs/design-spec.md, docs/pitch-script.md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F3318-81EE-48F1-9620-270FD1DE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D605E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5D605E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F2354-E4F4-4361-967B-FF8C0607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1733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DE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6E604-4CB6-4235-B96A-DD97B17B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82828"/>
                </a:solidFill>
                <a:latin typeface="Inter"/>
                <a:ea typeface="Inter"/>
                <a:cs typeface="Inter"/>
              </a:rPr>
              <a:t>Free-form DM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92DC3-6306-4082-AC68-F502468E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1390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181818"/>
                </a:solidFill>
                <a:latin typeface="Inter"/>
                <a:ea typeface="Inter"/>
                <a:cs typeface="Inter"/>
              </a:rPr>
              <a:t>John writes prep</a:t>
            </a:r>
          </a:p>
          <a:p xmlns:a="http://schemas.openxmlformats.org/drawingml/2006/main">
            <a:r>
              <a:rPr sz="1350">
                <a:solidFill>
                  <a:srgbClr val="181818"/>
                </a:solidFill>
                <a:latin typeface="Inter"/>
                <a:ea typeface="Inter"/>
                <a:cs typeface="Inter"/>
              </a:rPr>
              <a:t>+ teammate mentions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43AD5-E759-4E60-95E5-5CBD801E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051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FFF4C-6ABE-4024-952D-C83C7C7A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67050"/>
            <a:ext cx="1333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57C8C-D7B6-4AB3-BFF5-6477FEA1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05050"/>
            <a:ext cx="1733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DE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8FBBC-B6B1-40ED-8FB0-FBA22AAA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82828"/>
                </a:solidFill>
                <a:latin typeface="Inter"/>
                <a:ea typeface="Inter"/>
                <a:cs typeface="Inter"/>
              </a:rPr>
              <a:t>Roster parse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4750B-6823-4AF7-A0C9-44650DCB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33700"/>
            <a:ext cx="1390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181818"/>
                </a:solidFill>
                <a:latin typeface="Inter"/>
                <a:ea typeface="Inter"/>
                <a:cs typeface="Inter"/>
              </a:rPr>
              <a:t>Growth, Commerce,</a:t>
            </a:r>
          </a:p>
          <a:p xmlns:a="http://schemas.openxmlformats.org/drawingml/2006/main">
            <a:r>
              <a:rPr sz="1350">
                <a:solidFill>
                  <a:srgbClr val="181818"/>
                </a:solidFill>
                <a:latin typeface="Inter"/>
                <a:ea typeface="Inter"/>
                <a:cs typeface="Inter"/>
              </a:rPr>
              <a:t>Campaign Lead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9BF0D-63DA-4596-BF3C-89525A5F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7D621-A317-4608-BDC4-F643EDD5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1333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56E0A-3E7C-43E3-8D38-1C38CC49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05050"/>
            <a:ext cx="1733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DE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0AFB2A-1DDC-4D97-A1E7-5A880114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527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82828"/>
                </a:solidFill>
                <a:latin typeface="Inter"/>
                <a:ea typeface="Inter"/>
                <a:cs typeface="Inter"/>
              </a:rPr>
              <a:t>Participant DMs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C3BDCA-D1F5-433D-AB15-6724E51E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33700"/>
            <a:ext cx="1390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181818"/>
                </a:solidFill>
                <a:latin typeface="Inter"/>
                <a:ea typeface="Inter"/>
                <a:cs typeface="Inter"/>
              </a:rPr>
              <a:t>persistent agents collect</a:t>
            </a:r>
          </a:p>
          <a:p xmlns:a="http://schemas.openxmlformats.org/drawingml/2006/main">
            <a:r>
              <a:rPr sz="1350">
                <a:solidFill>
                  <a:srgbClr val="181818"/>
                </a:solidFill>
                <a:latin typeface="Inter"/>
                <a:ea typeface="Inter"/>
                <a:cs typeface="Inter"/>
              </a:rPr>
              <a:t>structured stances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6E3153-CD78-4DF5-9FC2-1215264A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3FD6F7-B392-4ED5-A2F7-F372EDBE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67050"/>
            <a:ext cx="1333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EBBFB6-D9D7-4601-8415-66CB5C83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05050"/>
            <a:ext cx="1733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28282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F363ED-2B4D-4B73-842F-376CD328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527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82828"/>
                </a:solidFill>
                <a:latin typeface="Inter"/>
                <a:ea typeface="Inter"/>
                <a:cs typeface="Inter"/>
              </a:rPr>
              <a:t>Assumption diff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6AAE50-5C45-4F93-8FE1-554C9C6B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33700"/>
            <a:ext cx="1390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181818"/>
                </a:solidFill>
                <a:latin typeface="Inter"/>
                <a:ea typeface="Inter"/>
                <a:cs typeface="Inter"/>
              </a:rPr>
              <a:t>objective mismatch</a:t>
            </a:r>
          </a:p>
          <a:p xmlns:a="http://schemas.openxmlformats.org/drawingml/2006/main">
            <a:r>
              <a:rPr sz="1350">
                <a:solidFill>
                  <a:srgbClr val="181818"/>
                </a:solidFill>
                <a:latin typeface="Inter"/>
                <a:ea typeface="Inter"/>
                <a:cs typeface="Inter"/>
              </a:rPr>
              <a:t>+ role-mix crux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13BAF9-EEFB-4E2D-8DA7-F798D683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051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BC855A-494F-4821-856F-49B4AEA4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67050"/>
            <a:ext cx="1333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EE4FD6-2A7D-4A07-89FE-E92C2820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05050"/>
            <a:ext cx="1733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DE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BDED15-9781-4A3A-BB8B-8DFCA607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527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82828"/>
                </a:solidFill>
                <a:latin typeface="Inter"/>
                <a:ea typeface="Inter"/>
                <a:cs typeface="Inter"/>
              </a:rPr>
              <a:t>Block Kit brief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8B20CA-71CE-4BBE-B657-9B7D7BC3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33700"/>
            <a:ext cx="1390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181818"/>
                </a:solidFill>
                <a:latin typeface="Inter"/>
                <a:ea typeface="Inter"/>
                <a:cs typeface="Inter"/>
              </a:rPr>
              <a:t>9 -&gt; 2 agenda,</a:t>
            </a:r>
          </a:p>
          <a:p xmlns:a="http://schemas.openxmlformats.org/drawingml/2006/main">
            <a:r>
              <a:rPr sz="1350">
                <a:solidFill>
                  <a:srgbClr val="181818"/>
                </a:solidFill>
                <a:latin typeface="Inter"/>
                <a:ea typeface="Inter"/>
                <a:cs typeface="Inter"/>
              </a:rPr>
              <a:t>provenance, actions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034E76-CAB5-4125-A273-ECEE1674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5D605E"/>
                </a:solidFill>
                <a:latin typeface="Inter"/>
                <a:ea typeface="Inter"/>
                <a:cs typeface="Inter"/>
              </a:rPr>
              <a:t>Trust boundary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9D111C-7BCF-4827-A0CF-F5FCB390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650">
                <a:solidFill>
                  <a:srgbClr val="181818"/>
                </a:solidFill>
                <a:latin typeface="Inter"/>
                <a:ea typeface="Inter"/>
                <a:cs typeface="Inter"/>
              </a:rPr>
              <a:t>Mochi compresses what needs discussion. John Taylor still owns the creator-mix decision with logged dissents.</a:t>
            </a:r>
          </a:p>
        </p:txBody>
      </p:sp>
    </p:spTree>
    <p:extLst>
      <p:ext uri="{BB962C8B-B14F-4D97-AF65-F5344CB8AC3E}">
        <p14:creationId xmlns:p14="http://schemas.microsoft.com/office/powerpoint/2010/main" val="497835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9069fecff42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C05DC-FB5D-4739-A72E-8886804A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5D605E"/>
                </a:solidFill>
                <a:latin typeface="Inter"/>
                <a:ea typeface="Inter"/>
                <a:cs typeface="Inter"/>
              </a:rPr>
              <a:t>DEMO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8895F-F89B-4194-97A6-F7AA00D5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solidFill>
                  <a:srgbClr val="181818"/>
                </a:solidFill>
                <a:latin typeface="Inter"/>
                <a:ea typeface="Inter"/>
                <a:cs typeface="Inter"/>
              </a:rPr>
              <a:t>The room starts with two real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E4F6E-E5BB-473D-85EA-4A187B67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750">
                <a:solidFill>
                  <a:srgbClr val="5D605E"/>
                </a:solidFill>
                <a:latin typeface="Inter"/>
                <a:ea typeface="Inter"/>
                <a:cs typeface="Inter"/>
              </a:rPr>
              <a:t>Sources: docs/pitch-script.md, docs/build-plan.md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7A201-6E64-4C04-ADED-1B70C689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D605E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5D605E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4FC28-FF9B-4158-B056-57810E3F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39052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DE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6F57B-50FA-4E9C-ADEA-3EA79C14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43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5D605E"/>
                </a:solidFill>
                <a:latin typeface="Inter"/>
                <a:ea typeface="Inter"/>
                <a:cs typeface="Inter"/>
              </a:rPr>
              <a:t>Mochi pre-meeting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DBF31-5EF7-4336-87A3-BB708693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1066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900" b="1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6900" b="1">
                <a:solidFill>
                  <a:srgbClr val="181818"/>
                </a:solidFill>
                <a:latin typeface="Inter"/>
                <a:ea typeface="Inter"/>
                <a:cs typeface="Inter"/>
              </a:rPr>
              <a:t>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64446-C78E-4C25-83D8-EF48989E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D605E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5D605E"/>
                </a:solidFill>
                <a:latin typeface="Inter"/>
                <a:ea typeface="Inter"/>
                <a:cs typeface="Inter"/>
              </a:rPr>
              <a:t>agenda items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6965B-4BA6-4405-B641-43E0BD29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05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5D605E"/>
                </a:solidFill>
                <a:latin typeface="Inter"/>
                <a:ea typeface="Inter"/>
                <a:cs typeface="Inter"/>
              </a:defRPr>
            </a:pPr>
            <a:r>
              <a:rPr sz="2250">
                <a:solidFill>
                  <a:srgbClr val="5D605E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154BF-CE48-4D28-A783-CFB9838C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00350"/>
            <a:ext cx="895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900" b="1">
                <a:solidFill>
                  <a:srgbClr val="181818"/>
                </a:solidFill>
                <a:latin typeface="Inter"/>
                <a:ea typeface="Inter"/>
                <a:cs typeface="Inter"/>
              </a:defRPr>
            </a:pPr>
            <a:r>
              <a:rPr sz="6900" b="1">
                <a:solidFill>
                  <a:srgbClr val="181818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2A74B-A034-44D0-98D8-49CBD597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528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D605E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5D605E"/>
                </a:solidFill>
                <a:latin typeface="Inter"/>
                <a:ea typeface="Inter"/>
                <a:cs typeface="Inter"/>
              </a:rPr>
              <a:t>live decisions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E0F20-E799-4CE5-9891-B9D4D8DE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2910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7C0F5-76A0-4749-A436-AF7C6C4B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282828"/>
                </a:solidFill>
                <a:latin typeface="Inter"/>
                <a:ea typeface="Inter"/>
                <a:cs typeface="Inter"/>
              </a:rPr>
              <a:t>Action items: 3 resolved, 0 need an owner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65E770-19E0-4B33-A02A-D1D7AD27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38350"/>
            <a:ext cx="5334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28282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9D8AB-9BF0-4851-85E1-0B74ACFD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241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81818"/>
                </a:solidFill>
                <a:latin typeface="Inter"/>
                <a:ea typeface="Inter"/>
                <a:cs typeface="Inter"/>
              </a:rPr>
              <a:t>1. Align the success objective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D1CA8C-D994-4869-9292-7E8F0266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8130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350">
                <a:solidFill>
                  <a:srgbClr val="282828"/>
                </a:solidFill>
                <a:latin typeface="Inter"/>
                <a:ea typeface="Inter"/>
                <a:cs typeface="Inter"/>
              </a:rPr>
              <a:t>Growth wants acquisition. Commerce wants GMV. The campaign lead wants mainstream-safe youth reach.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7346F2-FC34-49F9-A6DF-35C2EE32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90950"/>
            <a:ext cx="53340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282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03AB1A-49C5-46CA-8280-ECB00054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767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81818"/>
                </a:solidFill>
                <a:latin typeface="Inter"/>
                <a:ea typeface="Inter"/>
                <a:cs typeface="Inter"/>
              </a:rPr>
              <a:t>2. Decide the creator role split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ACD8D5-8271-4823-AB0C-4F4867B6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339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425">
                <a:solidFill>
                  <a:srgbClr val="282828"/>
                </a:solidFill>
                <a:latin typeface="Inter"/>
                <a:ea typeface="Inter"/>
                <a:cs typeface="Inter"/>
              </a:rPr>
              <a:t>One hero face, or hero plus Shopee Live conversion partner. John owns the final call.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2A8E58-9DE2-4EC8-908B-FBBE63BB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5D605E"/>
                </a:solidFill>
                <a:latin typeface="Inter"/>
                <a:ea typeface="Inter"/>
                <a:cs typeface="Inter"/>
              </a:rPr>
              <a:t>Pre-read, not live debate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242C1E-33A9-4BA4-B0EB-4E69E3E5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275">
                <a:solidFill>
                  <a:srgbClr val="282828"/>
                </a:solidFill>
                <a:latin typeface="Inter"/>
                <a:ea typeface="Inter"/>
                <a:cs typeface="Inter"/>
              </a:rPr>
              <a:t>Short-form + Shopee Live, tracking, hero categories, paid amplification, brand-safety review, backup creators.</a:t>
            </a:r>
          </a:p>
        </p:txBody>
      </p:sp>
    </p:spTree>
    <p:extLst>
      <p:ext uri="{BB962C8B-B14F-4D97-AF65-F5344CB8AC3E}">
        <p14:creationId xmlns:p14="http://schemas.microsoft.com/office/powerpoint/2010/main" val="2937126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248a4996040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64187-B143-4B3C-99BD-50848595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5D605E"/>
                </a:solidFill>
                <a:latin typeface="Inter"/>
                <a:ea typeface="Inter"/>
                <a:cs typeface="Inter"/>
              </a:rPr>
              <a:t>WEDGE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FA2E0-E344-4799-A533-BF86CF30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solidFill>
                  <a:srgbClr val="181818"/>
                </a:solidFill>
                <a:latin typeface="Inter"/>
                <a:ea typeface="Inter"/>
                <a:cs typeface="Inter"/>
              </a:rPr>
              <a:t>Position-only classification misses</a:t>
            </a:r>
          </a:p>
          <a:p xmlns:a="http://schemas.openxmlformats.org/drawingml/2006/main">
            <a:r>
              <a:rPr sz="3000">
                <a:solidFill>
                  <a:srgbClr val="181818"/>
                </a:solidFill>
                <a:latin typeface="Inter"/>
                <a:ea typeface="Inter"/>
                <a:cs typeface="Inter"/>
              </a:rPr>
              <a:t>the dangerous case.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60328-BE55-472D-9AAD-82681940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750">
                <a:solidFill>
                  <a:srgbClr val="5D605E"/>
                </a:solidFill>
                <a:latin typeface="Inter"/>
                <a:ea typeface="Inter"/>
                <a:cs typeface="Inter"/>
              </a:rPr>
              <a:t>Sources: docs/design-spec.md, docs/pitch-script.md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6AF8B-6432-4950-B881-428969AC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D605E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5D605E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46B70-6FAF-4F46-9824-DBD13370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095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DE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0E06C-87FE-4B2B-BBF9-BA4B8D9D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1818"/>
                </a:solidFill>
                <a:latin typeface="Inter"/>
                <a:ea typeface="Inter"/>
                <a:cs typeface="Inter"/>
              </a:rPr>
              <a:t>Naive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9C6AA-29DE-4BB0-AE7A-7B5D5B04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5D605E"/>
                </a:solidFill>
                <a:latin typeface="Inter"/>
                <a:ea typeface="Inter"/>
                <a:cs typeface="Inter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46307-8DF5-4559-9305-02A65BA6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38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650">
                <a:solidFill>
                  <a:srgbClr val="181818"/>
                </a:solidFill>
                <a:latin typeface="Inter"/>
                <a:ea typeface="Inter"/>
                <a:cs typeface="Inter"/>
              </a:rPr>
              <a:t>Everyone supports reaching younger shoppers.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A74F6-DF1A-4D18-B1D0-D7392F6B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862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5D605E"/>
                </a:solidFill>
                <a:latin typeface="Inter"/>
                <a:ea typeface="Inter"/>
                <a:cs typeface="Inter"/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CCD34-EA7A-46B1-A83C-A085DA51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338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2025" b="1">
                <a:solidFill>
                  <a:srgbClr val="282828"/>
                </a:solidFill>
                <a:latin typeface="Inter"/>
                <a:ea typeface="Inter"/>
                <a:cs typeface="Inter"/>
              </a:rPr>
              <a:t>AGREED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704EA-1135-4267-80BD-13C3E9BF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0995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350EC-73C7-49AA-B0A8-48F4C1B0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71850"/>
            <a:ext cx="1333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F90F5-5C7E-4AD3-9239-63F6504C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4196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9F9F9"/>
          </a:solidFill>
          <a:ln xmlns:a="http://schemas.openxmlformats.org/drawingml/2006/main" w="9525">
            <a:solidFill>
              <a:srgbClr val="28282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1DD191-75B1-4308-8150-C3BA9B6F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282828"/>
                </a:solidFill>
                <a:latin typeface="Inter"/>
                <a:ea typeface="Inter"/>
                <a:cs typeface="Inter"/>
              </a:rPr>
              <a:t>Assumption-aware classifier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A892A8-358E-4933-809F-85BDDF51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2895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5D605E"/>
                </a:solidFill>
                <a:latin typeface="Inter"/>
                <a:ea typeface="Inter"/>
                <a:cs typeface="Inter"/>
              </a:rPr>
              <a:t>Input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683A1-DD3E-4DF9-A855-8D920713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00400"/>
            <a:ext cx="3257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81818"/>
                </a:solidFill>
                <a:latin typeface="Inter"/>
                <a:ea typeface="Inter"/>
                <a:cs typeface="Inter"/>
              </a:rPr>
              <a:t>Growth: app installs</a:t>
            </a:r>
          </a:p>
          <a:p xmlns:a="http://schemas.openxmlformats.org/drawingml/2006/main">
            <a:r>
              <a:rPr sz="1500">
                <a:solidFill>
                  <a:srgbClr val="181818"/>
                </a:solidFill>
                <a:latin typeface="Inter"/>
                <a:ea typeface="Inter"/>
                <a:cs typeface="Inter"/>
              </a:rPr>
              <a:t>Commerce: GMV</a:t>
            </a:r>
          </a:p>
          <a:p xmlns:a="http://schemas.openxmlformats.org/drawingml/2006/main">
            <a:r>
              <a:rPr sz="1500">
                <a:solidFill>
                  <a:srgbClr val="181818"/>
                </a:solidFill>
                <a:latin typeface="Inter"/>
                <a:ea typeface="Inter"/>
                <a:cs typeface="Inter"/>
              </a:rPr>
              <a:t>Lead: safe youth reach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4389B1-3FA0-428A-A3F9-CD4A7073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005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5D605E"/>
                </a:solidFill>
                <a:latin typeface="Inter"/>
                <a:ea typeface="Inter"/>
                <a:cs typeface="Inter"/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94AF2-BFBC-4E9D-A119-FD240F21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481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2025" b="1">
                <a:solidFill>
                  <a:srgbClr val="282828"/>
                </a:solidFill>
                <a:latin typeface="Inter"/>
                <a:ea typeface="Inter"/>
                <a:cs typeface="Inter"/>
              </a:rPr>
              <a:t>FAKE AGREEMENT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136754-A202-4A3B-9157-26CE2933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05400"/>
            <a:ext cx="8953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345A4-B9EA-476F-9C7A-5D4BBD9B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578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Judge takeaway: Mochi catches the objective mismatch before the creator decision meeting.</a:t>
            </a:r>
          </a:p>
        </p:txBody>
      </p:sp>
    </p:spTree>
    <p:extLst>
      <p:ext uri="{BB962C8B-B14F-4D97-AF65-F5344CB8AC3E}">
        <p14:creationId xmlns:p14="http://schemas.microsoft.com/office/powerpoint/2010/main" val="129999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bbf78483544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4B184-9614-4900-A7BC-B43ADD1B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5D605E"/>
                </a:solidFill>
                <a:latin typeface="Inter"/>
                <a:ea typeface="Inter"/>
                <a:cs typeface="Inter"/>
              </a:rPr>
              <a:t>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BD049-F613-42D3-B226-CC26632F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solidFill>
                  <a:srgbClr val="181818"/>
                </a:solidFill>
                <a:latin typeface="Inter"/>
                <a:ea typeface="Inter"/>
                <a:cs typeface="Inter"/>
              </a:rPr>
              <a:t>Managed agents make prep continuous,</a:t>
            </a:r>
          </a:p>
          <a:p xmlns:a="http://schemas.openxmlformats.org/drawingml/2006/main">
            <a:r>
              <a:rPr sz="3000">
                <a:solidFill>
                  <a:srgbClr val="181818"/>
                </a:solidFill>
                <a:latin typeface="Inter"/>
                <a:ea typeface="Inter"/>
                <a:cs typeface="Inter"/>
              </a:rPr>
              <a:t>then disappear.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86C69-6D2E-49FF-B0F1-1660DC77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750">
                <a:solidFill>
                  <a:srgbClr val="5D605E"/>
                </a:solidFill>
                <a:latin typeface="Inter"/>
                <a:ea typeface="Inter"/>
                <a:cs typeface="Inter"/>
              </a:rPr>
              <a:t>Sources: docs/pitch-script.md, docs/build-plan.md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C8441-9779-4907-91D0-34FD3D19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D605E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5D605E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8DC9C-ECD9-4BAF-BB35-10FA2D9A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2095500" cy="23050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DE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49CEF-634B-4846-97F5-E354BDFB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81818"/>
                </a:solidFill>
                <a:latin typeface="Inter"/>
                <a:ea typeface="Inter"/>
                <a:cs typeface="Inter"/>
              </a:rPr>
              <a:t>Slack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4D91D-8495-4696-9479-44AC90CF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81818"/>
                </a:solidFill>
                <a:latin typeface="Inter"/>
                <a:ea typeface="Inter"/>
                <a:cs typeface="Inter"/>
              </a:rPr>
              <a:t>natural-language prep</a:t>
            </a:r>
          </a:p>
          <a:p xmlns:a="http://schemas.openxmlformats.org/drawingml/2006/main">
            <a:r>
              <a:rPr sz="1500">
                <a:solidFill>
                  <a:srgbClr val="181818"/>
                </a:solidFill>
                <a:latin typeface="Inter"/>
                <a:ea typeface="Inter"/>
                <a:cs typeface="Inter"/>
              </a:rPr>
              <a:t>stakeholder mentions</a:t>
            </a:r>
          </a:p>
          <a:p xmlns:a="http://schemas.openxmlformats.org/drawingml/2006/main">
            <a:r>
              <a:rPr sz="1500">
                <a:solidFill>
                  <a:srgbClr val="181818"/>
                </a:solidFill>
                <a:latin typeface="Inter"/>
                <a:ea typeface="Inter"/>
                <a:cs typeface="Inter"/>
              </a:rPr>
              <a:t>brief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D2173-1E37-482E-9EEF-EF927615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766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7E3F8-B534-4734-97E8-0CA66505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38500"/>
            <a:ext cx="1333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08CE7-C1C3-476D-AC23-7727C071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52650"/>
            <a:ext cx="2095500" cy="23050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DE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50639-DA74-4778-A5D4-AC57706D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19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81818"/>
                </a:solidFill>
                <a:latin typeface="Inter"/>
                <a:ea typeface="Inter"/>
                <a:cs typeface="Inter"/>
              </a:rPr>
              <a:t>Persistent sessions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0A4BB-7092-485A-9DE3-FC666BF3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9560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81818"/>
                </a:solidFill>
                <a:latin typeface="Inter"/>
                <a:ea typeface="Inter"/>
                <a:cs typeface="Inter"/>
              </a:rPr>
              <a:t>one agent per person</a:t>
            </a:r>
          </a:p>
          <a:p xmlns:a="http://schemas.openxmlformats.org/drawingml/2006/main">
            <a:r>
              <a:rPr sz="1500">
                <a:solidFill>
                  <a:srgbClr val="181818"/>
                </a:solidFill>
                <a:latin typeface="Inter"/>
                <a:ea typeface="Inter"/>
                <a:cs typeface="Inter"/>
              </a:rPr>
              <a:t>stance history</a:t>
            </a:r>
          </a:p>
          <a:p xmlns:a="http://schemas.openxmlformats.org/drawingml/2006/main">
            <a:r>
              <a:rPr sz="1500">
                <a:solidFill>
                  <a:srgbClr val="181818"/>
                </a:solidFill>
                <a:latin typeface="Inter"/>
                <a:ea typeface="Inter"/>
                <a:cs typeface="Inter"/>
              </a:rPr>
              <a:t>structured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760D5-10C5-4183-B54D-424D6FC7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766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B557E-6A0B-4FCE-B4AF-2BA518DB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38500"/>
            <a:ext cx="1333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0316A-E649-48D1-AD40-7ADC7984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52650"/>
            <a:ext cx="2095500" cy="23050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28282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40A07-6401-4948-9E3E-056BE245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19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81818"/>
                </a:solidFill>
                <a:latin typeface="Inter"/>
                <a:ea typeface="Inter"/>
                <a:cs typeface="Inter"/>
              </a:rPr>
              <a:t>Ephemeral session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18496-DB5B-4980-8295-69F421D2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9560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81818"/>
                </a:solidFill>
                <a:latin typeface="Inter"/>
                <a:ea typeface="Inter"/>
                <a:cs typeface="Inter"/>
              </a:rPr>
              <a:t>one orchestrator</a:t>
            </a:r>
          </a:p>
          <a:p xmlns:a="http://schemas.openxmlformats.org/drawingml/2006/main">
            <a:r>
              <a:rPr sz="1500">
                <a:solidFill>
                  <a:srgbClr val="181818"/>
                </a:solidFill>
                <a:latin typeface="Inter"/>
                <a:ea typeface="Inter"/>
                <a:cs typeface="Inter"/>
              </a:rPr>
              <a:t>for one meeting</a:t>
            </a:r>
          </a:p>
          <a:p xmlns:a="http://schemas.openxmlformats.org/drawingml/2006/main">
            <a:r>
              <a:rPr sz="1500">
                <a:solidFill>
                  <a:srgbClr val="181818"/>
                </a:solidFill>
                <a:latin typeface="Inter"/>
                <a:ea typeface="Inter"/>
                <a:cs typeface="Inter"/>
              </a:rPr>
              <a:t>then dissolves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C6429-2E16-4A54-A38C-ADA41647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766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10B5F0-6775-4144-A78F-1831A176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0"/>
            <a:ext cx="1333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5B6945-58A7-4E45-BE2F-93E0D73F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52650"/>
            <a:ext cx="2095500" cy="23050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DE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FDF31E-0AAB-4375-9522-B8257D88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19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81818"/>
                </a:solidFill>
                <a:latin typeface="Inter"/>
                <a:ea typeface="Inter"/>
                <a:cs typeface="Inter"/>
              </a:rPr>
              <a:t>Traceable 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7605A1-28AA-4ABF-A69C-555EFEC3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9560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81818"/>
                </a:solidFill>
                <a:latin typeface="Inter"/>
                <a:ea typeface="Inter"/>
                <a:cs typeface="Inter"/>
              </a:rPr>
              <a:t>assumption diff</a:t>
            </a:r>
          </a:p>
          <a:p xmlns:a="http://schemas.openxmlformats.org/drawingml/2006/main">
            <a:r>
              <a:rPr sz="1500">
                <a:solidFill>
                  <a:srgbClr val="181818"/>
                </a:solidFill>
                <a:latin typeface="Inter"/>
                <a:ea typeface="Inter"/>
                <a:cs typeface="Inter"/>
              </a:rPr>
              <a:t>provenance</a:t>
            </a:r>
          </a:p>
          <a:p xmlns:a="http://schemas.openxmlformats.org/drawingml/2006/main">
            <a:r>
              <a:rPr sz="1500">
                <a:solidFill>
                  <a:srgbClr val="181818"/>
                </a:solidFill>
                <a:latin typeface="Inter"/>
                <a:ea typeface="Inter"/>
                <a:cs typeface="Inter"/>
              </a:rPr>
              <a:t>human-owned brief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E3C794-766C-427C-BF3F-939D3199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9715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38AF67-BE91-4B28-AA37-C3D5C398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816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BFC5C9"/>
                </a:solidFill>
                <a:latin typeface="Inter"/>
                <a:ea typeface="Inter"/>
                <a:cs typeface="Inter"/>
              </a:rPr>
              <a:t>OpenAI Agents SDK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4CE73D-CAD4-4B2C-B142-F8ED5F66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054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Persistent context + ephemeral orchestration is the product pattern.</a:t>
            </a:r>
          </a:p>
        </p:txBody>
      </p:sp>
    </p:spTree>
    <p:extLst>
      <p:ext uri="{BB962C8B-B14F-4D97-AF65-F5344CB8AC3E}">
        <p14:creationId xmlns:p14="http://schemas.microsoft.com/office/powerpoint/2010/main" val="7162184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9693d8d964f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C9C85-1CEE-4B12-9078-50B2989F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5D605E"/>
                </a:solidFill>
                <a:latin typeface="Inter"/>
                <a:ea typeface="Inter"/>
                <a:cs typeface="Inter"/>
              </a:rPr>
              <a:t>PITCH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5407B-AF76-4FCE-8564-B76317B8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solidFill>
                  <a:srgbClr val="181818"/>
                </a:solidFill>
                <a:latin typeface="Inter"/>
                <a:ea typeface="Inter"/>
                <a:cs typeface="Inter"/>
              </a:rPr>
              <a:t>Six minutes, one narrative arc.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BDF30-1BFE-4768-8624-B4ACC6BC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750">
                <a:solidFill>
                  <a:srgbClr val="5D605E"/>
                </a:solidFill>
                <a:latin typeface="Inter"/>
                <a:ea typeface="Inter"/>
                <a:cs typeface="Inter"/>
              </a:rPr>
              <a:t>Sources: docs/pitch-script.md, docs/judging-alignment.md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5E5EF-12FE-494E-AE4B-2F5024A3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D605E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5D605E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44FC8-84D7-4C94-B756-35219F68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247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DE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56C7D-2E46-474D-9CB4-5A29E495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3150" b="1">
                <a:solidFill>
                  <a:srgbClr val="181818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B3E21-F7E3-4A32-89AE-423803A2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81818"/>
                </a:solidFill>
                <a:latin typeface="Inter"/>
                <a:ea typeface="Inter"/>
                <a:cs typeface="Inter"/>
              </a:rPr>
              <a:t>Name the pain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99A3F-BBFC-4481-901A-7E44719A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275">
                <a:solidFill>
                  <a:srgbClr val="282828"/>
                </a:solidFill>
                <a:latin typeface="Inter"/>
                <a:ea typeface="Inter"/>
                <a:cs typeface="Inter"/>
              </a:rPr>
              <a:t>Meetings waste time resolving vague assumptions.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2D9EA-016E-4611-BB48-EA77B34B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24100"/>
            <a:ext cx="2247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DE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1B7834-D345-4A82-A3A8-369F8FCD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5270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3150" b="1">
                <a:solidFill>
                  <a:srgbClr val="181818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68244-E159-433F-9A12-96151B18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432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81818"/>
                </a:solidFill>
                <a:latin typeface="Inter"/>
                <a:ea typeface="Inter"/>
                <a:cs typeface="Inter"/>
              </a:rPr>
              <a:t>Start in Slack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10B524-034F-4374-88BD-C09294FF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623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275">
                <a:solidFill>
                  <a:srgbClr val="282828"/>
                </a:solidFill>
                <a:latin typeface="Inter"/>
                <a:ea typeface="Inter"/>
                <a:cs typeface="Inter"/>
              </a:rPr>
              <a:t>John asks Mochi to prep the Shopee creator mix.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388A6-BECA-47A3-8BA1-B2FF7504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24100"/>
            <a:ext cx="2247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DE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1D7AF-D337-4345-BB7C-BB7B1AF9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5270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3150" b="1">
                <a:solidFill>
                  <a:srgbClr val="181818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72E170-DC54-455D-A980-C5A74166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432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81818"/>
                </a:solidFill>
                <a:latin typeface="Inter"/>
                <a:ea typeface="Inter"/>
                <a:cs typeface="Inter"/>
              </a:rPr>
              <a:t>Agents fan 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0891FF-FA1B-4462-A5A7-816869C9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275">
                <a:solidFill>
                  <a:srgbClr val="282828"/>
                </a:solidFill>
                <a:latin typeface="Inter"/>
                <a:ea typeface="Inter"/>
                <a:cs typeface="Inter"/>
              </a:rPr>
              <a:t>Persistent sessions collect each stakeholder stance.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9EAEFE-318E-40B5-A0DF-2AB1C97D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24100"/>
            <a:ext cx="2247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28282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E97297-C237-4837-9556-9206B94E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5270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3150" b="1">
                <a:solidFill>
                  <a:srgbClr val="181818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7E97CE-0897-4BF9-BF95-04524734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432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81818"/>
                </a:solidFill>
                <a:latin typeface="Inter"/>
                <a:ea typeface="Inter"/>
                <a:cs typeface="Inter"/>
              </a:rPr>
              <a:t>Show the brief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5CFAE0-C84F-4308-8335-78E31213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623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275">
                <a:solidFill>
                  <a:srgbClr val="282828"/>
                </a:solidFill>
                <a:latin typeface="Inter"/>
                <a:ea typeface="Inter"/>
                <a:cs typeface="Inter"/>
              </a:rPr>
              <a:t>Nine items become two decisions.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8043E1-0B8F-406E-8F94-3F12FCAB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325C97-5DA2-4315-B3D3-A4705B43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5D605E"/>
                </a:solidFill>
                <a:latin typeface="Inter"/>
                <a:ea typeface="Inter"/>
                <a:cs typeface="Inter"/>
              </a:rPr>
              <a:t>Narrative turn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D72AD4-873D-4029-B130-989FB52D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29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81818"/>
                </a:solidFill>
                <a:latin typeface="Inter"/>
                <a:ea typeface="Inter"/>
                <a:cs typeface="Inter"/>
              </a:rPr>
              <a:t>A summarizer sees agreement. Mochi sees the assumptions that would waste the meeting.</a:t>
            </a:r>
          </a:p>
        </p:txBody>
      </p:sp>
    </p:spTree>
    <p:extLst>
      <p:ext uri="{BB962C8B-B14F-4D97-AF65-F5344CB8AC3E}">
        <p14:creationId xmlns:p14="http://schemas.microsoft.com/office/powerpoint/2010/main" val="3976249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17c6199ae4e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06D82-7EBF-41C0-AC61-93641D7B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5D605E"/>
                </a:solidFill>
                <a:latin typeface="Inter"/>
                <a:ea typeface="Inter"/>
                <a:cs typeface="Inter"/>
              </a:rPr>
              <a:t>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74922-4975-4487-9942-DBB8CE3E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solidFill>
                  <a:srgbClr val="181818"/>
                </a:solidFill>
                <a:latin typeface="Inter"/>
                <a:ea typeface="Inter"/>
                <a:cs typeface="Inter"/>
              </a:rPr>
              <a:t>Mochi catches fake agreement</a:t>
            </a:r>
          </a:p>
          <a:p xmlns:a="http://schemas.openxmlformats.org/drawingml/2006/main">
            <a:r>
              <a:rPr sz="3000">
                <a:solidFill>
                  <a:srgbClr val="181818"/>
                </a:solidFill>
                <a:latin typeface="Inter"/>
                <a:ea typeface="Inter"/>
                <a:cs typeface="Inter"/>
              </a:rPr>
              <a:t>before the hour is gone.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A4030-FD17-4FDA-8781-5F69FD35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750">
                <a:solidFill>
                  <a:srgbClr val="5D605E"/>
                </a:solidFill>
                <a:latin typeface="Inter"/>
                <a:ea typeface="Inter"/>
                <a:cs typeface="Inter"/>
              </a:rPr>
              <a:t>Sources: docs/pitch-script.md, docs/submission-checklist.md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E6DA2-E6CC-4B0C-9825-0C4DC22D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D605E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5D605E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E22A9-8B82-4E5F-85E5-B15616C6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5905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2700">
                <a:solidFill>
                  <a:srgbClr val="181818"/>
                </a:solidFill>
                <a:latin typeface="Inter"/>
                <a:ea typeface="Inter"/>
                <a:cs typeface="Inter"/>
              </a:rPr>
              <a:t>Not after-meeting summary.</a:t>
            </a:r>
          </a:p>
          <a:p xmlns:a="http://schemas.openxmlformats.org/drawingml/2006/main">
            <a:r>
              <a:rPr sz="2700">
                <a:solidFill>
                  <a:srgbClr val="181818"/>
                </a:solidFill>
                <a:latin typeface="Inter"/>
                <a:ea typeface="Inter"/>
                <a:cs typeface="Inter"/>
              </a:rPr>
              <a:t>Before-meeting crux.</a:t>
            </a:r>
          </a:p>
          <a:p xmlns:a="http://schemas.openxmlformats.org/drawingml/2006/main">
            <a:r>
              <a:rPr sz="2700">
                <a:solidFill>
                  <a:srgbClr val="181818"/>
                </a:solidFill>
                <a:latin typeface="Inter"/>
                <a:ea typeface="Inter"/>
                <a:cs typeface="Inter"/>
              </a:rPr>
              <a:t>Inside Slack.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07b2cb72c4e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20193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8F510-2589-4E16-8932-49734F14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66103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DE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D0727-2DC6-48B7-B10D-1D50393C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581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81818"/>
                </a:solidFill>
                <a:latin typeface="Inter"/>
                <a:ea typeface="Inter"/>
                <a:cs typeface="Inter"/>
              </a:rPr>
              <a:t>The owner still decides. The meeting just starts at the crux.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666AF-F786-40D7-A54B-FD199E0D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D605E"/>
                </a:solidFill>
                <a:latin typeface="Inter"/>
                <a:ea typeface="Inter"/>
                <a:cs typeface="Inter"/>
              </a:rPr>
              <a:t>Shopee 11.11 creator mix: objective first, role split second, provenance preserved.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8543F-B4D4-4F9C-928D-73084A3C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0050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82828"/>
                </a:solidFill>
                <a:latin typeface="Inter"/>
                <a:ea typeface="Inter"/>
                <a:cs typeface="Inter"/>
              </a:rPr>
              <a:t>Problem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C8FAE-B9EA-41A2-9251-3B36C6BC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125">
                <a:solidFill>
                  <a:srgbClr val="5D605E"/>
                </a:solidFill>
                <a:latin typeface="Inter"/>
                <a:ea typeface="Inter"/>
                <a:cs typeface="Inter"/>
              </a:rPr>
              <a:t>unprepared meetings waste 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ED905-EF1D-454F-94E9-8279D3E3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005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82828"/>
                </a:solidFill>
                <a:latin typeface="Inter"/>
                <a:ea typeface="Inter"/>
                <a:cs typeface="Inter"/>
              </a:rPr>
              <a:t>Technology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1EADC-72A8-4190-8261-B657DEF9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005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125">
                <a:solidFill>
                  <a:srgbClr val="5D605E"/>
                </a:solidFill>
                <a:latin typeface="Inter"/>
                <a:ea typeface="Inter"/>
                <a:cs typeface="Inter"/>
              </a:rPr>
              <a:t>persistent + ephemeral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F6946-3848-4842-B484-AC5C55D0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0060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82828"/>
                </a:solidFill>
                <a:latin typeface="Inter"/>
                <a:ea typeface="Inter"/>
                <a:cs typeface="Inter"/>
              </a:rPr>
              <a:t>Outcome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011EE1-0CB8-4EC5-A637-DCF96B77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006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125">
                <a:solidFill>
                  <a:srgbClr val="5D605E"/>
                </a:solidFill>
                <a:latin typeface="Inter"/>
                <a:ea typeface="Inter"/>
                <a:cs typeface="Inter"/>
              </a:rPr>
              <a:t>two decisions before the meeting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4AAC1-3DE6-4757-856F-86A624A1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9906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14F88B-E4A6-4281-B810-02ACC557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BFC5C9"/>
                </a:solidFill>
                <a:latin typeface="Inter"/>
                <a:ea typeface="Inter"/>
                <a:cs typeface="Inter"/>
              </a:rPr>
              <a:t>The vision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176E2F-4E63-48D3-9111-0A4D2545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150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Every recurring meeting gets a pre-meeting reasoning loop.</a:t>
            </a:r>
          </a:p>
        </p:txBody>
      </p:sp>
    </p:spTree>
    <p:extLst>
      <p:ext uri="{BB962C8B-B14F-4D97-AF65-F5344CB8AC3E}">
        <p14:creationId xmlns:p14="http://schemas.microsoft.com/office/powerpoint/2010/main" val="296975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2026-06-06T07:48:13.0610000Z</dcterms:created>
  <dcterms:modified xsi:type="dcterms:W3CDTF">2026-06-06T07:48:13.0610000Z</dcterms:modified>
</coreProperties>
</file>