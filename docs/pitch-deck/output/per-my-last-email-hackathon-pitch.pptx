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53f7b3e245d4c17" /><Relationship Type="http://schemas.openxmlformats.org/officeDocument/2006/relationships/extended-properties" Target="/docProps/app.xml" Id="Rf6133d8a93f94665" /><Relationship Type="http://schemas.openxmlformats.org/officeDocument/2006/relationships/officeDocument" Target="/ppt/presentation.xml" Id="R8581b04870e04ef4" /></Relationships>
</file>

<file path=ppt/presentation.xml><?xml version="1.0" encoding="utf-8"?>
<p:presentation xmlns:p="http://schemas.openxmlformats.org/presentationml/2006/main">
  <p:sldMasterIdLst>
    <p:sldMasterId xmlns:r="http://schemas.openxmlformats.org/officeDocument/2006/relationships" id="2147483648" r:id="R3162387ab941485a"/>
  </p:sldMasterIdLst>
  <p:notesMasterIdLst>
    <p:notesMasterId xmlns:r="http://schemas.openxmlformats.org/officeDocument/2006/relationships" r:id="R27258a725f5f4bf4"/>
  </p:notesMasterIdLst>
  <p:sldIdLst>
    <p:sldId xmlns:r="http://schemas.openxmlformats.org/officeDocument/2006/relationships" id="256" r:id="Rb367038a77ec446d"/>
    <p:sldId xmlns:r="http://schemas.openxmlformats.org/officeDocument/2006/relationships" id="257" r:id="R39a99aa04ea745e4"/>
    <p:sldId xmlns:r="http://schemas.openxmlformats.org/officeDocument/2006/relationships" id="258" r:id="Rdfcec4295a4e4439"/>
    <p:sldId xmlns:r="http://schemas.openxmlformats.org/officeDocument/2006/relationships" id="259" r:id="R66ef2503d14b428f"/>
    <p:sldId xmlns:r="http://schemas.openxmlformats.org/officeDocument/2006/relationships" id="260" r:id="Rb9fd664021fe437a"/>
    <p:sldId xmlns:r="http://schemas.openxmlformats.org/officeDocument/2006/relationships" id="261" r:id="R7778894b99bd4968"/>
    <p:sldId xmlns:r="http://schemas.openxmlformats.org/officeDocument/2006/relationships" id="262" r:id="R26ae0c5dc02b460c"/>
    <p:sldId xmlns:r="http://schemas.openxmlformats.org/officeDocument/2006/relationships" id="263" r:id="Rce954219e1184daa"/>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226cc18e5d334363" /><Relationship Type="http://schemas.openxmlformats.org/officeDocument/2006/relationships/slideMaster" Target="/ppt/slideMasters/slideMaster1.xml" Id="R3162387ab941485a" /><Relationship Type="http://schemas.openxmlformats.org/officeDocument/2006/relationships/notesMaster" Target="/ppt/notesMasters/notesMaster1.xml" Id="R27258a725f5f4bf4" /><Relationship Type="http://schemas.openxmlformats.org/officeDocument/2006/relationships/presProps" Target="/ppt/presProps.xml" Id="Re3853822d0704683" /><Relationship Type="http://schemas.openxmlformats.org/officeDocument/2006/relationships/viewProps" Target="/ppt/viewProps.xml" Id="Rb12f22444efb43d1" /><Relationship Type="http://schemas.openxmlformats.org/officeDocument/2006/relationships/tableStyles" Target="/ppt/tableStyles.xml" Id="R5d5aebc1e5f94dd2" /><Relationship Type="http://schemas.openxmlformats.org/officeDocument/2006/relationships/slide" Target="/ppt/slides/slide1.xml" Id="Rb367038a77ec446d" /><Relationship Type="http://schemas.openxmlformats.org/officeDocument/2006/relationships/slide" Target="/ppt/slides/slide2.xml" Id="R39a99aa04ea745e4" /><Relationship Type="http://schemas.openxmlformats.org/officeDocument/2006/relationships/slide" Target="/ppt/slides/slide3.xml" Id="Rdfcec4295a4e4439" /><Relationship Type="http://schemas.openxmlformats.org/officeDocument/2006/relationships/slide" Target="/ppt/slides/slide4.xml" Id="R66ef2503d14b428f" /><Relationship Type="http://schemas.openxmlformats.org/officeDocument/2006/relationships/slide" Target="/ppt/slides/slide5.xml" Id="Rb9fd664021fe437a" /><Relationship Type="http://schemas.openxmlformats.org/officeDocument/2006/relationships/slide" Target="/ppt/slides/slide6.xml" Id="R7778894b99bd4968" /><Relationship Type="http://schemas.openxmlformats.org/officeDocument/2006/relationships/slide" Target="/ppt/slides/slide7.xml" Id="R26ae0c5dc02b460c" /><Relationship Type="http://schemas.openxmlformats.org/officeDocument/2006/relationships/slide" Target="/ppt/slides/slide8.xml" Id="Rce954219e1184da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028f1b3d79e4ba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9c7ba5895db4771" /><Relationship Type="http://schemas.openxmlformats.org/officeDocument/2006/relationships/notesMaster" Target="/ppt/notesMasters/notesMaster1.xml" Id="R15ac303bf56346b9" /></Relationships>
</file>

<file path=ppt/notesSlides/_rels/notesSlide2.xml.rels>&#65279;<?xml version="1.0" encoding="utf-8"?><Relationships xmlns="http://schemas.openxmlformats.org/package/2006/relationships"><Relationship Type="http://schemas.openxmlformats.org/officeDocument/2006/relationships/slide" Target="/ppt/slides/slide2.xml" Id="Rc16e698f0d984706" /><Relationship Type="http://schemas.openxmlformats.org/officeDocument/2006/relationships/notesMaster" Target="/ppt/notesMasters/notesMaster1.xml" Id="R37eed18922494307" /></Relationships>
</file>

<file path=ppt/notesSlides/_rels/notesSlide3.xml.rels>&#65279;<?xml version="1.0" encoding="utf-8"?><Relationships xmlns="http://schemas.openxmlformats.org/package/2006/relationships"><Relationship Type="http://schemas.openxmlformats.org/officeDocument/2006/relationships/slide" Target="/ppt/slides/slide3.xml" Id="R50856b9386604385" /><Relationship Type="http://schemas.openxmlformats.org/officeDocument/2006/relationships/notesMaster" Target="/ppt/notesMasters/notesMaster1.xml" Id="R261b631dfaa540c2" /></Relationships>
</file>

<file path=ppt/notesSlides/_rels/notesSlide4.xml.rels>&#65279;<?xml version="1.0" encoding="utf-8"?><Relationships xmlns="http://schemas.openxmlformats.org/package/2006/relationships"><Relationship Type="http://schemas.openxmlformats.org/officeDocument/2006/relationships/slide" Target="/ppt/slides/slide4.xml" Id="R3a93096ae202499e" /><Relationship Type="http://schemas.openxmlformats.org/officeDocument/2006/relationships/notesMaster" Target="/ppt/notesMasters/notesMaster1.xml" Id="R4167d094aba1414c" /></Relationships>
</file>

<file path=ppt/notesSlides/_rels/notesSlide5.xml.rels>&#65279;<?xml version="1.0" encoding="utf-8"?><Relationships xmlns="http://schemas.openxmlformats.org/package/2006/relationships"><Relationship Type="http://schemas.openxmlformats.org/officeDocument/2006/relationships/slide" Target="/ppt/slides/slide5.xml" Id="Rfac9428b483d464a" /><Relationship Type="http://schemas.openxmlformats.org/officeDocument/2006/relationships/notesMaster" Target="/ppt/notesMasters/notesMaster1.xml" Id="Re73362553f5d40ba" /></Relationships>
</file>

<file path=ppt/notesSlides/_rels/notesSlide6.xml.rels>&#65279;<?xml version="1.0" encoding="utf-8"?><Relationships xmlns="http://schemas.openxmlformats.org/package/2006/relationships"><Relationship Type="http://schemas.openxmlformats.org/officeDocument/2006/relationships/slide" Target="/ppt/slides/slide6.xml" Id="Rc425c08b7ab34926" /><Relationship Type="http://schemas.openxmlformats.org/officeDocument/2006/relationships/notesMaster" Target="/ppt/notesMasters/notesMaster1.xml" Id="R57bdc571bfcd4ed5" /></Relationships>
</file>

<file path=ppt/notesSlides/_rels/notesSlide7.xml.rels>&#65279;<?xml version="1.0" encoding="utf-8"?><Relationships xmlns="http://schemas.openxmlformats.org/package/2006/relationships"><Relationship Type="http://schemas.openxmlformats.org/officeDocument/2006/relationships/slide" Target="/ppt/slides/slide7.xml" Id="Rb5903763954245b7" /><Relationship Type="http://schemas.openxmlformats.org/officeDocument/2006/relationships/notesMaster" Target="/ppt/notesMasters/notesMaster1.xml" Id="R7a36ba1eb25d4bb2" /></Relationships>
</file>

<file path=ppt/notesSlides/_rels/notesSlide8.xml.rels>&#65279;<?xml version="1.0" encoding="utf-8"?><Relationships xmlns="http://schemas.openxmlformats.org/package/2006/relationships"><Relationship Type="http://schemas.openxmlformats.org/officeDocument/2006/relationships/slide" Target="/ppt/slides/slide8.xml" Id="R72016625c6934d16" /><Relationship Type="http://schemas.openxmlformats.org/officeDocument/2006/relationships/notesMaster" Target="/ppt/notesMasters/notesMaster1.xml" Id="R27244ced331143d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Cold open. Lead with the outcome, not the mechanism: Mochi helps teams meet less and decide faster by clearing the items that do not need a live meeting and starting the room at the real crux. The Shopee SG 11.11 creator-mix demo compresses a nine-item agenda to two live decisions. Do not claim measured time savings or adoption; those are not in the source docs. The 9 to 2 figure is the demo artifact, not a time metric.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Problem framing. Meetings do not fail only because people disagree. They fail because dangerous disagreement hides behind shared language. Walk judges through the Shopee creator-mix interpretations of "younger shoppers": Growth wants acquisition, Commerce wants GMV, and the Campaign Lead wants mainstream-safe youth relevance.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Product explanation. Mochi starts from a free-form Slack DM. John mentions the Shopee brief and Growth, Commerce, and Lead stakeholders. Mochi parses the roster, fans out to persistent participant agents, then a transient orchestrator compiles the compressed brief. Stop at the pre-meeting brief; do not show a final influencer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core originality slide, placed before the demo proof so judges know what to watch for. The naive baseline looks only at positions, so it marks "support reaching younger shoppers" as agreed. The assumption-aware classifier compares success criteria and surfaces fake agreement: acquisition, GMV, and mainstream-safe youth reach are different objectives. Both paths are implemented and tested in src/pmle/crux_engine.py, so this is a verifiable build artifact, not a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 proof. Show the actual Mochi digest shape from docs/pitch-script.md: the agenda compresses to one fake-agreement objective, one unresolved role-mix crux, and three cleared action items. That leaves two live decisions: align the primary objective, then decide the creator role mix. Do not show a final influencer decision. Do not claim measured time savings; no such metric is in the docs.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Technical slide. Sell the frontier technology, not the backstage demo switches. Explain persistent participant sessions and ephemeral meeting orchestration through the OpenAI Agents SDK. Slack is the human interface; managed agents hold stance context; a transient orchestrator compares assumptions and dissolves. Mention tracing as proof if shown live.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of Codex slide. Codex was a build partner, not just autocomplete. Map concrete Codex contributions to concrete artifacts in this repo: it pivoted the scenario to a Slack-native pre-meeting crux finder, built the transient orchestrator and free-form DM routing, kept the docs and code in sync, and wrote the deterministic test suite and demo hardening. Keep claims grounded in AGENTS.md and the pitch script; do not overstate. Keep cached/live boundary details in notes, not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Bring the judges back to the sentence from the live script: meetings do not fail because people think they agree. Mochi catches the fake agreement before the hour is gone, inside Slack. Stop at the generated pre-meeting brief; do not imply a final influencer decision. The repo URL is now on the slide for submission. Still missing for final submission: optional hosted demo link, live trace artifact, and latency/reliability or measured adoption/time-saved only if measured.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8724e84d79845e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ecf1f1d96c64f51" /><Relationship Type="http://schemas.openxmlformats.org/officeDocument/2006/relationships/slideLayout" Target="/ppt/slideLayouts/slideLayout1.xml" Id="Rc43a85dd62424c5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43a85dd62424c5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603f8271c2342e9" /><Relationship Type="http://schemas.openxmlformats.org/officeDocument/2006/relationships/image" Target="/ppt/media/image.png" Id="Rff28054db3ee4a04" /><Relationship Type="http://schemas.openxmlformats.org/officeDocument/2006/relationships/image" Target="/ppt/media/image2.png" Id="Rca86d6a5a3f54fa3" /><Relationship Type="http://schemas.openxmlformats.org/officeDocument/2006/relationships/notesSlide" Target="/ppt/notesSlides/notesSlide1.xml" Id="R150b1df8786e471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7c3f99204dc4898" /><Relationship Type="http://schemas.openxmlformats.org/officeDocument/2006/relationships/image" Target="/ppt/media/image3.png" Id="R50d13fc6094c45aa" /><Relationship Type="http://schemas.openxmlformats.org/officeDocument/2006/relationships/notesSlide" Target="/ppt/notesSlides/notesSlide2.xml" Id="Rfea207df70b242f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d6f48370eba4506" /><Relationship Type="http://schemas.openxmlformats.org/officeDocument/2006/relationships/image" Target="/ppt/media/image4.png" Id="R90313174aea74cad" /><Relationship Type="http://schemas.openxmlformats.org/officeDocument/2006/relationships/notesSlide" Target="/ppt/notesSlides/notesSlide3.xml" Id="Rc31fe4a2d320406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56fc1b9a13a4b50" /><Relationship Type="http://schemas.openxmlformats.org/officeDocument/2006/relationships/image" Target="/ppt/media/image5.png" Id="R5685f96ce99847dc" /><Relationship Type="http://schemas.openxmlformats.org/officeDocument/2006/relationships/notesSlide" Target="/ppt/notesSlides/notesSlide4.xml" Id="R8e0b9fb3cca448d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208fe84a3dd431d" /><Relationship Type="http://schemas.openxmlformats.org/officeDocument/2006/relationships/image" Target="/ppt/media/image6.png" Id="R36222a3aec564ee4" /><Relationship Type="http://schemas.openxmlformats.org/officeDocument/2006/relationships/notesSlide" Target="/ppt/notesSlides/notesSlide5.xml" Id="Rd61d5e039cf04aa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7cdabbc2be84fd5" /><Relationship Type="http://schemas.openxmlformats.org/officeDocument/2006/relationships/image" Target="/ppt/media/image7.png" Id="Rb00e6114d3174c20" /><Relationship Type="http://schemas.openxmlformats.org/officeDocument/2006/relationships/notesSlide" Target="/ppt/notesSlides/notesSlide6.xml" Id="Ra535598c8abb496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b0cdb43b84b4fd7" /><Relationship Type="http://schemas.openxmlformats.org/officeDocument/2006/relationships/image" Target="/ppt/media/image8.png" Id="R12fd535eb42b484b" /><Relationship Type="http://schemas.openxmlformats.org/officeDocument/2006/relationships/notesSlide" Target="/ppt/notesSlides/notesSlide7.xml" Id="R1e702da55754438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5e2b034600944ac" /><Relationship Type="http://schemas.openxmlformats.org/officeDocument/2006/relationships/image" Target="/ppt/media/image9.png" Id="Rdaced7f1dbb848ce" /><Relationship Type="http://schemas.openxmlformats.org/officeDocument/2006/relationships/image" Target="/ppt/media/image10.png" Id="Rc8b73721e51d430d" /><Relationship Type="http://schemas.openxmlformats.org/officeDocument/2006/relationships/notesSlide" Target="/ppt/notesSlides/notesSlide8.xml" Id="R37309c40836a4257"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 name=""/>
          <p:cNvPicPr>
            <a:picLocks xmlns:a="http://schemas.openxmlformats.org/drawingml/2006/main" noChangeAspect="1"/>
          </p:cNvPicPr>
          <p:nvPr/>
        </p:nvPicPr>
        <p:blipFill>
          <a:blip xmlns:r="http://schemas.openxmlformats.org/officeDocument/2006/relationships" xmlns:a="http://schemas.openxmlformats.org/drawingml/2006/main" r:embed="Rff28054db3ee4a0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D7AE22C-76A0-495B-AAF7-5D6CB94250F3}"/>
              </a:ext>
            </a:extLst>
          </p:cNvPr>
          <p:cNvSpPr>
            <a:spLocks xmlns:a="http://schemas.openxmlformats.org/drawingml/2006/main" noGrp="1"/>
          </p:cNvSpPr>
          <p:nvPr/>
        </p:nvSpPr>
        <p:spPr>
          <a:xfrm xmlns:a="http://schemas.openxmlformats.org/drawingml/2006/main">
            <a:off x="704850" y="571500"/>
            <a:ext cx="304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275" b="1">
                <a:solidFill>
                  <a:srgbClr val="5D605E"/>
                </a:solidFill>
                <a:latin typeface="Inter"/>
                <a:ea typeface="Inter"/>
                <a:cs typeface="Inter"/>
              </a:rPr>
              <a:t>PerMyLastEmail / Mochi</a:t>
            </a:r>
          </a:p>
        </p:txBody>
      </p:sp>
      <p:sp>
        <p:nvSpPr>
          <p:cNvPr id="3" name="">
            <a:extLst xmlns:a="http://schemas.openxmlformats.org/drawingml/2006/main">
              <a:ext uri="{FF2B5EF4-FFF2-40B4-BE49-F238E27FC236}">
                <a16:creationId xmlns:a16="http://schemas.microsoft.com/office/drawing/2014/main" id="{7AE41958-B9A2-45CC-B0D2-9053AE272AD8}"/>
              </a:ext>
            </a:extLst>
          </p:cNvPr>
          <p:cNvSpPr>
            <a:spLocks xmlns:a="http://schemas.openxmlformats.org/drawingml/2006/main" noGrp="1"/>
          </p:cNvSpPr>
          <p:nvPr/>
        </p:nvSpPr>
        <p:spPr>
          <a:xfrm xmlns:a="http://schemas.openxmlformats.org/drawingml/2006/main">
            <a:off x="704850" y="895350"/>
            <a:ext cx="4572000" cy="323850"/>
          </a:xfrm>
          <a:prstGeom xmlns:a="http://schemas.openxmlformats.org/drawingml/2006/main" prst="roundRect">
            <a:avLst>
              <a:gd name="adj" fmla="val 50000"/>
            </a:avLst>
          </a:prstGeom>
          <a:solidFill xmlns:a="http://schemas.openxmlformats.org/drawingml/2006/main">
            <a:srgbClr val="DDEBFF"/>
          </a:solidFill>
          <a:ln xmlns:a="http://schemas.openxmlformats.org/drawingml/2006/main" w="9525">
            <a:solidFill>
              <a:srgbClr val="2636B8"/>
            </a:solidFill>
          </a:ln>
        </p:spPr>
      </p:sp>
      <p:sp>
        <p:nvSpPr>
          <p:cNvPr id="4" name="">
            <a:extLst xmlns:a="http://schemas.openxmlformats.org/drawingml/2006/main">
              <a:ext uri="{FF2B5EF4-FFF2-40B4-BE49-F238E27FC236}">
                <a16:creationId xmlns:a16="http://schemas.microsoft.com/office/drawing/2014/main" id="{8438FFBB-8F0B-4D45-BD42-67209086F54C}"/>
              </a:ext>
            </a:extLst>
          </p:cNvPr>
          <p:cNvSpPr>
            <a:spLocks xmlns:a="http://schemas.openxmlformats.org/drawingml/2006/main" noGrp="1"/>
          </p:cNvSpPr>
          <p:nvPr/>
        </p:nvSpPr>
        <p:spPr>
          <a:xfrm xmlns:a="http://schemas.openxmlformats.org/drawingml/2006/main">
            <a:off x="819150" y="962025"/>
            <a:ext cx="43434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ctr">
              <a:defRPr sz="900" b="1">
                <a:solidFill>
                  <a:srgbClr val="2636B8"/>
                </a:solidFill>
                <a:latin typeface="Inter"/>
                <a:ea typeface="Inter"/>
                <a:cs typeface="Inter"/>
              </a:defRPr>
            </a:pPr>
            <a:r>
              <a:rPr sz="900" b="1">
                <a:solidFill>
                  <a:srgbClr val="2636B8"/>
                </a:solidFill>
                <a:latin typeface="Inter"/>
                <a:ea typeface="Inter"/>
                <a:cs typeface="Inter"/>
              </a:rPr>
              <a:t>BUILD DIRECTION  ·  AI-NATIVE PRODUCTS &amp; OPERATIONS</a:t>
            </a:r>
          </a:p>
        </p:txBody>
      </p:sp>
      <p:sp>
        <p:nvSpPr>
          <p:cNvPr id="5" name="">
            <a:extLst xmlns:a="http://schemas.openxmlformats.org/drawingml/2006/main">
              <a:ext uri="{FF2B5EF4-FFF2-40B4-BE49-F238E27FC236}">
                <a16:creationId xmlns:a16="http://schemas.microsoft.com/office/drawing/2014/main" id="{8E416F68-B340-4637-BAF7-0C7F77E473D6}"/>
              </a:ext>
            </a:extLst>
          </p:cNvPr>
          <p:cNvSpPr>
            <a:spLocks xmlns:a="http://schemas.openxmlformats.org/drawingml/2006/main" noGrp="1"/>
          </p:cNvSpPr>
          <p:nvPr/>
        </p:nvSpPr>
        <p:spPr>
          <a:xfrm xmlns:a="http://schemas.openxmlformats.org/drawingml/2006/main">
            <a:off x="666750" y="1352550"/>
            <a:ext cx="628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4050">
                <a:solidFill>
                  <a:srgbClr val="181818"/>
                </a:solidFill>
                <a:latin typeface="Inter"/>
                <a:ea typeface="Inter"/>
                <a:cs typeface="Inter"/>
              </a:rPr>
              <a:t>Cut the meeting,</a:t>
            </a:r>
          </a:p>
          <a:p xmlns:a="http://schemas.openxmlformats.org/drawingml/2006/main">
            <a:r>
              <a:rPr sz="4050">
                <a:solidFill>
                  <a:srgbClr val="181818"/>
                </a:solidFill>
                <a:latin typeface="Inter"/>
                <a:ea typeface="Inter"/>
                <a:cs typeface="Inter"/>
              </a:rPr>
              <a:t>not the decision.</a:t>
            </a:r>
          </a:p>
        </p:txBody>
      </p:sp>
      <p:sp>
        <p:nvSpPr>
          <p:cNvPr id="6" name="">
            <a:extLst xmlns:a="http://schemas.openxmlformats.org/drawingml/2006/main">
              <a:ext uri="{FF2B5EF4-FFF2-40B4-BE49-F238E27FC236}">
                <a16:creationId xmlns:a16="http://schemas.microsoft.com/office/drawing/2014/main" id="{08B8B259-11FB-4E30-BC21-2957A9AB1A70}"/>
              </a:ext>
            </a:extLst>
          </p:cNvPr>
          <p:cNvSpPr>
            <a:spLocks xmlns:a="http://schemas.openxmlformats.org/drawingml/2006/main" noGrp="1"/>
          </p:cNvSpPr>
          <p:nvPr/>
        </p:nvSpPr>
        <p:spPr>
          <a:xfrm xmlns:a="http://schemas.openxmlformats.org/drawingml/2006/main">
            <a:off x="704850" y="2857500"/>
            <a:ext cx="657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500">
                <a:solidFill>
                  <a:srgbClr val="282828"/>
                </a:solidFill>
                <a:latin typeface="Inter"/>
                <a:ea typeface="Inter"/>
                <a:cs typeface="Inter"/>
              </a:rPr>
              <a:t>Meet less, decide faster. Mochi clears the easy items in Slack before you meet, so the room opens on the real crux.</a:t>
            </a:r>
          </a:p>
        </p:txBody>
      </p:sp>
      <p:sp>
        <p:nvSpPr>
          <p:cNvPr id="7" name="">
            <a:extLst xmlns:a="http://schemas.openxmlformats.org/drawingml/2006/main">
              <a:ext uri="{FF2B5EF4-FFF2-40B4-BE49-F238E27FC236}">
                <a16:creationId xmlns:a16="http://schemas.microsoft.com/office/drawing/2014/main" id="{761045AF-BDB7-4898-8DAA-4DE46FC5BA19}"/>
              </a:ext>
            </a:extLst>
          </p:cNvPr>
          <p:cNvSpPr>
            <a:spLocks xmlns:a="http://schemas.openxmlformats.org/drawingml/2006/main" noGrp="1"/>
          </p:cNvSpPr>
          <p:nvPr/>
        </p:nvSpPr>
        <p:spPr>
          <a:xfrm xmlns:a="http://schemas.openxmlformats.org/drawingml/2006/main">
            <a:off x="704850" y="3562350"/>
            <a:ext cx="5334000" cy="9525"/>
          </a:xfrm>
          <a:prstGeom xmlns:a="http://schemas.openxmlformats.org/drawingml/2006/main" prst="rect">
            <a:avLst/>
          </a:prstGeom>
          <a:solidFill xmlns:a="http://schemas.openxmlformats.org/drawingml/2006/main">
            <a:srgbClr val="EDEDED"/>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3D9CB1B-E6AD-4C0E-888C-E09083AE0294}"/>
              </a:ext>
            </a:extLst>
          </p:cNvPr>
          <p:cNvSpPr>
            <a:spLocks xmlns:a="http://schemas.openxmlformats.org/drawingml/2006/main" noGrp="1"/>
          </p:cNvSpPr>
          <p:nvPr/>
        </p:nvSpPr>
        <p:spPr>
          <a:xfrm xmlns:a="http://schemas.openxmlformats.org/drawingml/2006/main">
            <a:off x="723900" y="3790950"/>
            <a:ext cx="152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900" b="1">
                <a:solidFill>
                  <a:srgbClr val="5D605E"/>
                </a:solidFill>
                <a:latin typeface="Inter"/>
                <a:ea typeface="Inter"/>
                <a:cs typeface="Inter"/>
              </a:rPr>
              <a:t>Demo decision</a:t>
            </a:r>
          </a:p>
        </p:txBody>
      </p:sp>
      <p:sp>
        <p:nvSpPr>
          <p:cNvPr id="9" name="">
            <a:extLst xmlns:a="http://schemas.openxmlformats.org/drawingml/2006/main">
              <a:ext uri="{FF2B5EF4-FFF2-40B4-BE49-F238E27FC236}">
                <a16:creationId xmlns:a16="http://schemas.microsoft.com/office/drawing/2014/main" id="{75E4266A-15D8-44C5-8F06-9A39A246DBB7}"/>
              </a:ext>
            </a:extLst>
          </p:cNvPr>
          <p:cNvSpPr>
            <a:spLocks xmlns:a="http://schemas.openxmlformats.org/drawingml/2006/main" noGrp="1"/>
          </p:cNvSpPr>
          <p:nvPr/>
        </p:nvSpPr>
        <p:spPr>
          <a:xfrm xmlns:a="http://schemas.openxmlformats.org/drawingml/2006/main">
            <a:off x="723900" y="4038600"/>
            <a:ext cx="3905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800">
                <a:solidFill>
                  <a:srgbClr val="181818"/>
                </a:solidFill>
                <a:latin typeface="Inter"/>
                <a:ea typeface="Inter"/>
                <a:cs typeface="Inter"/>
              </a:rPr>
              <a:t>Prepare Shopee SG 11.11 creator mix</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ca86d6a5a3f54fa3"/>
          <a:srcRect xmlns:a="http://schemas.openxmlformats.org/drawingml/2006/main" l="0" t="0" r="0" b="0"/>
          <a:stretch xmlns:a="http://schemas.openxmlformats.org/drawingml/2006/main">
            <a:fillRect l="0" t="0" r="0" b="0"/>
          </a:stretch>
        </p:blipFill>
        <p:spPr>
          <a:xfrm xmlns:a="http://schemas.openxmlformats.org/drawingml/2006/main">
            <a:off x="4724400" y="3695700"/>
            <a:ext cx="1371600" cy="13716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EFFF8DFE-52B4-44C1-A000-C10DD5D134B2}"/>
              </a:ext>
            </a:extLst>
          </p:cNvPr>
          <p:cNvSpPr>
            <a:spLocks xmlns:a="http://schemas.openxmlformats.org/drawingml/2006/main" noGrp="1"/>
          </p:cNvSpPr>
          <p:nvPr/>
        </p:nvSpPr>
        <p:spPr>
          <a:xfrm xmlns:a="http://schemas.openxmlformats.org/drawingml/2006/main">
            <a:off x="4724400" y="5162550"/>
            <a:ext cx="1371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pPr algn="ctr">
              <a:defRPr sz="975" b="1">
                <a:solidFill>
                  <a:srgbClr val="282828"/>
                </a:solidFill>
                <a:latin typeface="Inter"/>
                <a:ea typeface="Inter"/>
                <a:cs typeface="Inter"/>
              </a:defRPr>
            </a:pPr>
            <a:r>
              <a:rPr sz="975" b="1">
                <a:solidFill>
                  <a:srgbClr val="282828"/>
                </a:solidFill>
                <a:latin typeface="Inter"/>
                <a:ea typeface="Inter"/>
                <a:cs typeface="Inter"/>
              </a:rPr>
              <a:t>Mochi lives in Slack</a:t>
            </a:r>
          </a:p>
        </p:txBody>
      </p:sp>
      <p:sp>
        <p:nvSpPr>
          <p:cNvPr id="12" name="">
            <a:extLst xmlns:a="http://schemas.openxmlformats.org/drawingml/2006/main">
              <a:ext uri="{FF2B5EF4-FFF2-40B4-BE49-F238E27FC236}">
                <a16:creationId xmlns:a16="http://schemas.microsoft.com/office/drawing/2014/main" id="{1E43B078-D8AB-4EA2-8D5F-F3A475F66339}"/>
              </a:ext>
            </a:extLst>
          </p:cNvPr>
          <p:cNvSpPr>
            <a:spLocks xmlns:a="http://schemas.openxmlformats.org/drawingml/2006/main" noGrp="1"/>
          </p:cNvSpPr>
          <p:nvPr/>
        </p:nvSpPr>
        <p:spPr>
          <a:xfrm xmlns:a="http://schemas.openxmlformats.org/drawingml/2006/main">
            <a:off x="7381875" y="1028700"/>
            <a:ext cx="3429000" cy="4229100"/>
          </a:xfrm>
          <a:prstGeom xmlns:a="http://schemas.openxmlformats.org/drawingml/2006/main" prst="roundRect">
            <a:avLst>
              <a:gd name="adj" fmla="val 2222"/>
            </a:avLst>
          </a:prstGeom>
          <a:solidFill xmlns:a="http://schemas.openxmlformats.org/drawingml/2006/main">
            <a:srgbClr val="FFFFF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5DD280E-778C-4CD6-A15B-82E6245EF77C}"/>
              </a:ext>
            </a:extLst>
          </p:cNvPr>
          <p:cNvSpPr>
            <a:spLocks xmlns:a="http://schemas.openxmlformats.org/drawingml/2006/main" noGrp="1"/>
          </p:cNvSpPr>
          <p:nvPr/>
        </p:nvSpPr>
        <p:spPr>
          <a:xfrm xmlns:a="http://schemas.openxmlformats.org/drawingml/2006/main">
            <a:off x="7696200" y="1352550"/>
            <a:ext cx="285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975" b="1">
                <a:solidFill>
                  <a:srgbClr val="5D605E"/>
                </a:solidFill>
                <a:latin typeface="Inter"/>
                <a:ea typeface="Inter"/>
                <a:cs typeface="Inter"/>
              </a:rPr>
              <a:t>Shorter meeting, fewer items</a:t>
            </a:r>
          </a:p>
        </p:txBody>
      </p:sp>
      <p:sp>
        <p:nvSpPr>
          <p:cNvPr id="14" name="">
            <a:extLst xmlns:a="http://schemas.openxmlformats.org/drawingml/2006/main">
              <a:ext uri="{FF2B5EF4-FFF2-40B4-BE49-F238E27FC236}">
                <a16:creationId xmlns:a16="http://schemas.microsoft.com/office/drawing/2014/main" id="{8CCD2696-BDB1-4AA5-B365-375D33E63848}"/>
              </a:ext>
            </a:extLst>
          </p:cNvPr>
          <p:cNvSpPr>
            <a:spLocks xmlns:a="http://schemas.openxmlformats.org/drawingml/2006/main" noGrp="1"/>
          </p:cNvSpPr>
          <p:nvPr/>
        </p:nvSpPr>
        <p:spPr>
          <a:xfrm xmlns:a="http://schemas.openxmlformats.org/drawingml/2006/main">
            <a:off x="7715250" y="1924050"/>
            <a:ext cx="10953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pPr algn="ctr">
              <a:defRPr sz="7200" b="1">
                <a:solidFill>
                  <a:srgbClr val="181818"/>
                </a:solidFill>
                <a:latin typeface="Inter"/>
                <a:ea typeface="Inter"/>
                <a:cs typeface="Inter"/>
              </a:defRPr>
            </a:pPr>
            <a:r>
              <a:rPr sz="7200" b="1">
                <a:solidFill>
                  <a:srgbClr val="181818"/>
                </a:solidFill>
                <a:latin typeface="Inter"/>
                <a:ea typeface="Inter"/>
                <a:cs typeface="Inter"/>
              </a:rPr>
              <a:t>9</a:t>
            </a:r>
          </a:p>
        </p:txBody>
      </p:sp>
      <p:sp>
        <p:nvSpPr>
          <p:cNvPr id="15" name="">
            <a:extLst xmlns:a="http://schemas.openxmlformats.org/drawingml/2006/main">
              <a:ext uri="{FF2B5EF4-FFF2-40B4-BE49-F238E27FC236}">
                <a16:creationId xmlns:a16="http://schemas.microsoft.com/office/drawing/2014/main" id="{48B6A66C-68F3-489C-B9B5-36CFA72FD546}"/>
              </a:ext>
            </a:extLst>
          </p:cNvPr>
          <p:cNvSpPr>
            <a:spLocks xmlns:a="http://schemas.openxmlformats.org/drawingml/2006/main" noGrp="1"/>
          </p:cNvSpPr>
          <p:nvPr/>
        </p:nvSpPr>
        <p:spPr>
          <a:xfrm xmlns:a="http://schemas.openxmlformats.org/drawingml/2006/main">
            <a:off x="7810500" y="2876550"/>
            <a:ext cx="904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pPr algn="ctr">
              <a:defRPr sz="1200">
                <a:solidFill>
                  <a:srgbClr val="5D605E"/>
                </a:solidFill>
                <a:latin typeface="Inter"/>
                <a:ea typeface="Inter"/>
                <a:cs typeface="Inter"/>
              </a:defRPr>
            </a:pPr>
            <a:r>
              <a:rPr sz="1200">
                <a:solidFill>
                  <a:srgbClr val="5D605E"/>
                </a:solidFill>
                <a:latin typeface="Inter"/>
                <a:ea typeface="Inter"/>
                <a:cs typeface="Inter"/>
              </a:rPr>
              <a:t>items</a:t>
            </a:r>
          </a:p>
        </p:txBody>
      </p:sp>
      <p:sp>
        <p:nvSpPr>
          <p:cNvPr id="16" name="">
            <a:extLst xmlns:a="http://schemas.openxmlformats.org/drawingml/2006/main">
              <a:ext uri="{FF2B5EF4-FFF2-40B4-BE49-F238E27FC236}">
                <a16:creationId xmlns:a16="http://schemas.microsoft.com/office/drawing/2014/main" id="{365C8F9D-64C6-4BD9-BB81-E843F2542FAC}"/>
              </a:ext>
            </a:extLst>
          </p:cNvPr>
          <p:cNvSpPr>
            <a:spLocks xmlns:a="http://schemas.openxmlformats.org/drawingml/2006/main" noGrp="1"/>
          </p:cNvSpPr>
          <p:nvPr/>
        </p:nvSpPr>
        <p:spPr>
          <a:xfrm xmlns:a="http://schemas.openxmlformats.org/drawingml/2006/main">
            <a:off x="8953500" y="228600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pPr algn="ctr">
              <a:defRPr sz="2250">
                <a:solidFill>
                  <a:srgbClr val="5D605E"/>
                </a:solidFill>
                <a:latin typeface="Inter"/>
                <a:ea typeface="Inter"/>
                <a:cs typeface="Inter"/>
              </a:defRPr>
            </a:pPr>
            <a:r>
              <a:rPr sz="2250">
                <a:solidFill>
                  <a:srgbClr val="5D605E"/>
                </a:solidFill>
                <a:latin typeface="Inter"/>
                <a:ea typeface="Inter"/>
                <a:cs typeface="Inter"/>
              </a:rPr>
              <a:t>-&gt;</a:t>
            </a:r>
          </a:p>
        </p:txBody>
      </p:sp>
      <p:sp>
        <p:nvSpPr>
          <p:cNvPr id="17" name="">
            <a:extLst xmlns:a="http://schemas.openxmlformats.org/drawingml/2006/main">
              <a:ext uri="{FF2B5EF4-FFF2-40B4-BE49-F238E27FC236}">
                <a16:creationId xmlns:a16="http://schemas.microsoft.com/office/drawing/2014/main" id="{85D09BEC-6FCF-48A5-AD7A-420459D5612A}"/>
              </a:ext>
            </a:extLst>
          </p:cNvPr>
          <p:cNvSpPr>
            <a:spLocks xmlns:a="http://schemas.openxmlformats.org/drawingml/2006/main" noGrp="1"/>
          </p:cNvSpPr>
          <p:nvPr/>
        </p:nvSpPr>
        <p:spPr>
          <a:xfrm xmlns:a="http://schemas.openxmlformats.org/drawingml/2006/main">
            <a:off x="9525000" y="1924050"/>
            <a:ext cx="9048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pPr algn="ctr">
              <a:defRPr sz="7200" b="1">
                <a:solidFill>
                  <a:srgbClr val="282828"/>
                </a:solidFill>
                <a:latin typeface="Inter"/>
                <a:ea typeface="Inter"/>
                <a:cs typeface="Inter"/>
              </a:defRPr>
            </a:pPr>
            <a:r>
              <a:rPr sz="7200" b="1">
                <a:solidFill>
                  <a:srgbClr val="282828"/>
                </a:solidFill>
                <a:latin typeface="Inter"/>
                <a:ea typeface="Inter"/>
                <a:cs typeface="Inter"/>
              </a:rPr>
              <a:t>2</a:t>
            </a:r>
          </a:p>
        </p:txBody>
      </p:sp>
      <p:sp>
        <p:nvSpPr>
          <p:cNvPr id="18" name="">
            <a:extLst xmlns:a="http://schemas.openxmlformats.org/drawingml/2006/main">
              <a:ext uri="{FF2B5EF4-FFF2-40B4-BE49-F238E27FC236}">
                <a16:creationId xmlns:a16="http://schemas.microsoft.com/office/drawing/2014/main" id="{F27564CD-40A5-4A66-AADA-ECB5C6F8FBFC}"/>
              </a:ext>
            </a:extLst>
          </p:cNvPr>
          <p:cNvSpPr>
            <a:spLocks xmlns:a="http://schemas.openxmlformats.org/drawingml/2006/main" noGrp="1"/>
          </p:cNvSpPr>
          <p:nvPr/>
        </p:nvSpPr>
        <p:spPr>
          <a:xfrm xmlns:a="http://schemas.openxmlformats.org/drawingml/2006/main">
            <a:off x="9353550" y="2876550"/>
            <a:ext cx="1238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pPr algn="ctr">
              <a:defRPr sz="1200">
                <a:solidFill>
                  <a:srgbClr val="5D605E"/>
                </a:solidFill>
                <a:latin typeface="Inter"/>
                <a:ea typeface="Inter"/>
                <a:cs typeface="Inter"/>
              </a:defRPr>
            </a:pPr>
            <a:r>
              <a:rPr sz="1200">
                <a:solidFill>
                  <a:srgbClr val="5D605E"/>
                </a:solidFill>
                <a:latin typeface="Inter"/>
                <a:ea typeface="Inter"/>
                <a:cs typeface="Inter"/>
              </a:rPr>
              <a:t>meeting items</a:t>
            </a:r>
          </a:p>
        </p:txBody>
      </p:sp>
      <p:sp>
        <p:nvSpPr>
          <p:cNvPr id="19" name="">
            <a:extLst xmlns:a="http://schemas.openxmlformats.org/drawingml/2006/main">
              <a:ext uri="{FF2B5EF4-FFF2-40B4-BE49-F238E27FC236}">
                <a16:creationId xmlns:a16="http://schemas.microsoft.com/office/drawing/2014/main" id="{3838989E-DF74-4B5B-AE0C-CC46D393C893}"/>
              </a:ext>
            </a:extLst>
          </p:cNvPr>
          <p:cNvSpPr>
            <a:spLocks xmlns:a="http://schemas.openxmlformats.org/drawingml/2006/main" noGrp="1"/>
          </p:cNvSpPr>
          <p:nvPr/>
        </p:nvSpPr>
        <p:spPr>
          <a:xfrm xmlns:a="http://schemas.openxmlformats.org/drawingml/2006/main">
            <a:off x="7715250" y="3333750"/>
            <a:ext cx="2667000" cy="9525"/>
          </a:xfrm>
          <a:prstGeom xmlns:a="http://schemas.openxmlformats.org/drawingml/2006/main" prst="rect">
            <a:avLst/>
          </a:prstGeom>
          <a:solidFill xmlns:a="http://schemas.openxmlformats.org/drawingml/2006/main">
            <a:srgbClr val="EDEDED"/>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0937AB40-6408-4047-8013-6605D3E9FCFF}"/>
              </a:ext>
            </a:extLst>
          </p:cNvPr>
          <p:cNvSpPr>
            <a:spLocks xmlns:a="http://schemas.openxmlformats.org/drawingml/2006/main" noGrp="1"/>
          </p:cNvSpPr>
          <p:nvPr/>
        </p:nvSpPr>
        <p:spPr>
          <a:xfrm xmlns:a="http://schemas.openxmlformats.org/drawingml/2006/main">
            <a:off x="7734300" y="3581400"/>
            <a:ext cx="2571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575">
                <a:solidFill>
                  <a:srgbClr val="181818"/>
                </a:solidFill>
                <a:latin typeface="Inter"/>
                <a:ea typeface="Inter"/>
                <a:cs typeface="Inter"/>
              </a:rPr>
              <a:t>objective: fake agreement</a:t>
            </a:r>
          </a:p>
          <a:p xmlns:a="http://schemas.openxmlformats.org/drawingml/2006/main">
            <a:r>
              <a:rPr sz="1575">
                <a:solidFill>
                  <a:srgbClr val="181818"/>
                </a:solidFill>
                <a:latin typeface="Inter"/>
                <a:ea typeface="Inter"/>
                <a:cs typeface="Inter"/>
              </a:rPr>
              <a:t>role mix: unresolved crux</a:t>
            </a:r>
          </a:p>
          <a:p xmlns:a="http://schemas.openxmlformats.org/drawingml/2006/main">
            <a:r>
              <a:rPr sz="1575">
                <a:solidFill>
                  <a:srgbClr val="181818"/>
                </a:solidFill>
                <a:latin typeface="Inter"/>
                <a:ea typeface="Inter"/>
                <a:cs typeface="Inter"/>
              </a:rPr>
              <a:t>3 action items resolved</a:t>
            </a:r>
          </a:p>
        </p:txBody>
      </p:sp>
      <p:sp>
        <p:nvSpPr>
          <p:cNvPr id="21" name="">
            <a:extLst xmlns:a="http://schemas.openxmlformats.org/drawingml/2006/main">
              <a:ext uri="{FF2B5EF4-FFF2-40B4-BE49-F238E27FC236}">
                <a16:creationId xmlns:a16="http://schemas.microsoft.com/office/drawing/2014/main" id="{3F373B01-C8F7-43BB-8BA6-B501D584F0E9}"/>
              </a:ext>
            </a:extLst>
          </p:cNvPr>
          <p:cNvSpPr>
            <a:spLocks xmlns:a="http://schemas.openxmlformats.org/drawingml/2006/main" noGrp="1"/>
          </p:cNvSpPr>
          <p:nvPr/>
        </p:nvSpPr>
        <p:spPr>
          <a:xfrm xmlns:a="http://schemas.openxmlformats.org/drawingml/2006/main">
            <a:off x="685800" y="6515100"/>
            <a:ext cx="666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750">
                <a:solidFill>
                  <a:srgbClr val="5D605E"/>
                </a:solidFill>
                <a:latin typeface="Inter"/>
                <a:ea typeface="Inter"/>
                <a:cs typeface="Inter"/>
              </a:rPr>
              <a:t>Sources: README, docs/overview.md, docs/pitch-script.md</a:t>
            </a:r>
          </a:p>
        </p:txBody>
      </p:sp>
      <p:sp>
        <p:nvSpPr>
          <p:cNvPr id="22" name="">
            <a:extLst xmlns:a="http://schemas.openxmlformats.org/drawingml/2006/main">
              <a:ext uri="{FF2B5EF4-FFF2-40B4-BE49-F238E27FC236}">
                <a16:creationId xmlns:a16="http://schemas.microsoft.com/office/drawing/2014/main" id="{93A7BB5E-022E-4EFE-8C9A-5D75C9006FF4}"/>
              </a:ext>
            </a:extLst>
          </p:cNvPr>
          <p:cNvSpPr>
            <a:spLocks xmlns:a="http://schemas.openxmlformats.org/drawingml/2006/main" noGrp="1"/>
          </p:cNvSpPr>
          <p:nvPr/>
        </p:nvSpPr>
        <p:spPr>
          <a:xfrm xmlns:a="http://schemas.openxmlformats.org/drawingml/2006/main">
            <a:off x="11239500" y="6515100"/>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pPr algn="r">
              <a:defRPr sz="750">
                <a:solidFill>
                  <a:srgbClr val="5D605E"/>
                </a:solidFill>
                <a:latin typeface="Inter"/>
                <a:ea typeface="Inter"/>
                <a:cs typeface="Inter"/>
              </a:defRPr>
            </a:pPr>
            <a:r>
              <a:rPr sz="750">
                <a:solidFill>
                  <a:srgbClr val="5D605E"/>
                </a:solidFill>
                <a:latin typeface="Inter"/>
                <a:ea typeface="Inter"/>
                <a:cs typeface="Inter"/>
              </a:rPr>
              <a:t>01</a:t>
            </a:r>
          </a:p>
        </p:txBody>
      </p:sp>
    </p:spTree>
    <p:extLst>
      <p:ext uri="{BB962C8B-B14F-4D97-AF65-F5344CB8AC3E}">
        <p14:creationId xmlns:p14="http://schemas.microsoft.com/office/powerpoint/2010/main" val="151595000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 name=""/>
          <p:cNvPicPr>
            <a:picLocks xmlns:a="http://schemas.openxmlformats.org/drawingml/2006/main" noChangeAspect="1"/>
          </p:cNvPicPr>
          <p:nvPr/>
        </p:nvPicPr>
        <p:blipFill>
          <a:blip xmlns:r="http://schemas.openxmlformats.org/officeDocument/2006/relationships" xmlns:a="http://schemas.openxmlformats.org/drawingml/2006/main" r:embed="R50d13fc6094c45a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075D9CD-4A97-465F-9CEF-43B2C2BEF473}"/>
              </a:ext>
            </a:extLst>
          </p:cNvPr>
          <p:cNvSpPr>
            <a:spLocks xmlns:a="http://schemas.openxmlformats.org/drawingml/2006/main" noGrp="1"/>
          </p:cNvSpPr>
          <p:nvPr/>
        </p:nvSpPr>
        <p:spPr>
          <a:xfrm xmlns:a="http://schemas.openxmlformats.org/drawingml/2006/main">
            <a:off x="685800" y="4191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19050" rIns="0" bIns="0">
            <a:noAutofit/>
          </a:bodyPr>
          <a:lstStyle xmlns:a="http://schemas.openxmlformats.org/drawingml/2006/main"/>
          <a:p xmlns:a="http://schemas.openxmlformats.org/drawingml/2006/main">
            <a:r>
              <a:rPr sz="975" b="1">
                <a:solidFill>
                  <a:srgbClr val="5D605E"/>
                </a:solidFill>
                <a:latin typeface="Inter"/>
                <a:ea typeface="Inter"/>
                <a:cs typeface="Inter"/>
              </a:rPr>
              <a:t>PROBLEM</a:t>
            </a:r>
          </a:p>
        </p:txBody>
      </p:sp>
      <p:sp>
        <p:nvSpPr>
          <p:cNvPr id="3" name="">
            <a:extLst xmlns:a="http://schemas.openxmlformats.org/drawingml/2006/main">
              <a:ext uri="{FF2B5EF4-FFF2-40B4-BE49-F238E27FC236}">
                <a16:creationId xmlns:a16="http://schemas.microsoft.com/office/drawing/2014/main" id="{E01E38A4-FABD-4FE0-B010-BE313B9B51FC}"/>
              </a:ext>
            </a:extLst>
          </p:cNvPr>
          <p:cNvSpPr>
            <a:spLocks xmlns:a="http://schemas.openxmlformats.org/drawingml/2006/main" noGrp="1"/>
          </p:cNvSpPr>
          <p:nvPr/>
        </p:nvSpPr>
        <p:spPr>
          <a:xfrm xmlns:a="http://schemas.openxmlformats.org/drawingml/2006/main">
            <a:off x="666750" y="723900"/>
            <a:ext cx="8763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3000">
                <a:solidFill>
                  <a:srgbClr val="181818"/>
                </a:solidFill>
                <a:latin typeface="Inter"/>
                <a:ea typeface="Inter"/>
                <a:cs typeface="Inter"/>
              </a:rPr>
              <a:t>Poor prep turns meetings into</a:t>
            </a:r>
          </a:p>
          <a:p xmlns:a="http://schemas.openxmlformats.org/drawingml/2006/main">
            <a:r>
              <a:rPr sz="3000">
                <a:solidFill>
                  <a:srgbClr val="181818"/>
                </a:solidFill>
                <a:latin typeface="Inter"/>
                <a:ea typeface="Inter"/>
                <a:cs typeface="Inter"/>
              </a:rPr>
              <a:t>ambiguity cleanup.</a:t>
            </a:r>
          </a:p>
        </p:txBody>
      </p:sp>
      <p:sp>
        <p:nvSpPr>
          <p:cNvPr id="4" name="">
            <a:extLst xmlns:a="http://schemas.openxmlformats.org/drawingml/2006/main">
              <a:ext uri="{FF2B5EF4-FFF2-40B4-BE49-F238E27FC236}">
                <a16:creationId xmlns:a16="http://schemas.microsoft.com/office/drawing/2014/main" id="{16720C64-7553-4F23-889E-6E2E2A6496C1}"/>
              </a:ext>
            </a:extLst>
          </p:cNvPr>
          <p:cNvSpPr>
            <a:spLocks xmlns:a="http://schemas.openxmlformats.org/drawingml/2006/main" noGrp="1"/>
          </p:cNvSpPr>
          <p:nvPr/>
        </p:nvSpPr>
        <p:spPr>
          <a:xfrm xmlns:a="http://schemas.openxmlformats.org/drawingml/2006/main">
            <a:off x="685800" y="6515100"/>
            <a:ext cx="723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750">
                <a:solidFill>
                  <a:srgbClr val="5D605E"/>
                </a:solidFill>
                <a:latin typeface="Inter"/>
                <a:ea typeface="Inter"/>
                <a:cs typeface="Inter"/>
              </a:rPr>
              <a:t>Sources: docs/overview.md, docs/pitch-script.md</a:t>
            </a:r>
          </a:p>
        </p:txBody>
      </p:sp>
      <p:sp>
        <p:nvSpPr>
          <p:cNvPr id="5" name="">
            <a:extLst xmlns:a="http://schemas.openxmlformats.org/drawingml/2006/main">
              <a:ext uri="{FF2B5EF4-FFF2-40B4-BE49-F238E27FC236}">
                <a16:creationId xmlns:a16="http://schemas.microsoft.com/office/drawing/2014/main" id="{0360C2D2-A447-44F0-AE72-2A3764CFAB82}"/>
              </a:ext>
            </a:extLst>
          </p:cNvPr>
          <p:cNvSpPr>
            <a:spLocks xmlns:a="http://schemas.openxmlformats.org/drawingml/2006/main" noGrp="1"/>
          </p:cNvSpPr>
          <p:nvPr/>
        </p:nvSpPr>
        <p:spPr>
          <a:xfrm xmlns:a="http://schemas.openxmlformats.org/drawingml/2006/main">
            <a:off x="11239500" y="6515100"/>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750">
                <a:solidFill>
                  <a:srgbClr val="5D605E"/>
                </a:solidFill>
                <a:latin typeface="Inter"/>
                <a:ea typeface="Inter"/>
                <a:cs typeface="Inter"/>
              </a:defRPr>
            </a:pPr>
            <a:r>
              <a:rPr sz="750">
                <a:solidFill>
                  <a:srgbClr val="5D605E"/>
                </a:solidFill>
                <a:latin typeface="Inter"/>
                <a:ea typeface="Inter"/>
                <a:cs typeface="Inter"/>
              </a:rPr>
              <a:t>02</a:t>
            </a:r>
          </a:p>
        </p:txBody>
      </p:sp>
      <p:sp>
        <p:nvSpPr>
          <p:cNvPr id="6" name="">
            <a:extLst xmlns:a="http://schemas.openxmlformats.org/drawingml/2006/main">
              <a:ext uri="{FF2B5EF4-FFF2-40B4-BE49-F238E27FC236}">
                <a16:creationId xmlns:a16="http://schemas.microsoft.com/office/drawing/2014/main" id="{A99B405A-D115-4433-9628-7DAB4FE1D181}"/>
              </a:ext>
            </a:extLst>
          </p:cNvPr>
          <p:cNvSpPr>
            <a:spLocks xmlns:a="http://schemas.openxmlformats.org/drawingml/2006/main" noGrp="1"/>
          </p:cNvSpPr>
          <p:nvPr/>
        </p:nvSpPr>
        <p:spPr>
          <a:xfrm xmlns:a="http://schemas.openxmlformats.org/drawingml/2006/main">
            <a:off x="800100" y="1962150"/>
            <a:ext cx="4953000" cy="2324100"/>
          </a:xfrm>
          <a:prstGeom xmlns:a="http://schemas.openxmlformats.org/drawingml/2006/main" prst="roundRect">
            <a:avLst>
              <a:gd name="adj" fmla="val 3279"/>
            </a:avLst>
          </a:prstGeom>
          <a:solidFill xmlns:a="http://schemas.openxmlformats.org/drawingml/2006/main">
            <a:srgbClr val="FFFFFF"/>
          </a:solidFill>
          <a:ln xmlns:a="http://schemas.openxmlformats.org/drawingml/2006/main" w="9525">
            <a:solidFill>
              <a:srgbClr val="EDEDED"/>
            </a:solidFill>
          </a:ln>
        </p:spPr>
      </p:sp>
      <p:sp>
        <p:nvSpPr>
          <p:cNvPr id="7" name="">
            <a:extLst xmlns:a="http://schemas.openxmlformats.org/drawingml/2006/main">
              <a:ext uri="{FF2B5EF4-FFF2-40B4-BE49-F238E27FC236}">
                <a16:creationId xmlns:a16="http://schemas.microsoft.com/office/drawing/2014/main" id="{F5AB5A5D-BF4B-430C-A991-E3DECE1B71BF}"/>
              </a:ext>
            </a:extLst>
          </p:cNvPr>
          <p:cNvSpPr>
            <a:spLocks xmlns:a="http://schemas.openxmlformats.org/drawingml/2006/main" noGrp="1"/>
          </p:cNvSpPr>
          <p:nvPr/>
        </p:nvSpPr>
        <p:spPr>
          <a:xfrm xmlns:a="http://schemas.openxmlformats.org/drawingml/2006/main">
            <a:off x="1085850" y="2247900"/>
            <a:ext cx="4191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2400" b="1">
                <a:solidFill>
                  <a:srgbClr val="181818"/>
                </a:solidFill>
                <a:latin typeface="Inter"/>
                <a:ea typeface="Inter"/>
                <a:cs typeface="Inter"/>
              </a:rPr>
              <a:t>"Reach younger</a:t>
            </a:r>
          </a:p>
          <a:p xmlns:a="http://schemas.openxmlformats.org/drawingml/2006/main">
            <a:r>
              <a:rPr sz="2400" b="1">
                <a:solidFill>
                  <a:srgbClr val="181818"/>
                </a:solidFill>
                <a:latin typeface="Inter"/>
                <a:ea typeface="Inter"/>
                <a:cs typeface="Inter"/>
              </a:rPr>
              <a:t>shoppers."</a:t>
            </a:r>
          </a:p>
        </p:txBody>
      </p:sp>
      <p:sp>
        <p:nvSpPr>
          <p:cNvPr id="8" name="">
            <a:extLst xmlns:a="http://schemas.openxmlformats.org/drawingml/2006/main">
              <a:ext uri="{FF2B5EF4-FFF2-40B4-BE49-F238E27FC236}">
                <a16:creationId xmlns:a16="http://schemas.microsoft.com/office/drawing/2014/main" id="{A98C1A8C-4763-4370-98A3-011BDE99E814}"/>
              </a:ext>
            </a:extLst>
          </p:cNvPr>
          <p:cNvSpPr>
            <a:spLocks xmlns:a="http://schemas.openxmlformats.org/drawingml/2006/main" noGrp="1"/>
          </p:cNvSpPr>
          <p:nvPr/>
        </p:nvSpPr>
        <p:spPr>
          <a:xfrm xmlns:a="http://schemas.openxmlformats.org/drawingml/2006/main">
            <a:off x="1104900" y="3200400"/>
            <a:ext cx="4000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500">
                <a:solidFill>
                  <a:srgbClr val="5D605E"/>
                </a:solidFill>
                <a:latin typeface="Inter"/>
                <a:ea typeface="Inter"/>
                <a:cs typeface="Inter"/>
              </a:rPr>
              <a:t>A normal summarizer sees one phrase repeated and marks the objective as aligned.</a:t>
            </a:r>
          </a:p>
        </p:txBody>
      </p:sp>
      <p:sp>
        <p:nvSpPr>
          <p:cNvPr id="9" name="">
            <a:extLst xmlns:a="http://schemas.openxmlformats.org/drawingml/2006/main">
              <a:ext uri="{FF2B5EF4-FFF2-40B4-BE49-F238E27FC236}">
                <a16:creationId xmlns:a16="http://schemas.microsoft.com/office/drawing/2014/main" id="{3387FCA9-E807-4FB2-9867-E6A1EDDAC890}"/>
              </a:ext>
            </a:extLst>
          </p:cNvPr>
          <p:cNvSpPr>
            <a:spLocks xmlns:a="http://schemas.openxmlformats.org/drawingml/2006/main" noGrp="1"/>
          </p:cNvSpPr>
          <p:nvPr/>
        </p:nvSpPr>
        <p:spPr>
          <a:xfrm xmlns:a="http://schemas.openxmlformats.org/drawingml/2006/main">
            <a:off x="1104900" y="3790950"/>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350" b="1">
                <a:solidFill>
                  <a:srgbClr val="181818"/>
                </a:solidFill>
                <a:latin typeface="Inter"/>
                <a:ea typeface="Inter"/>
                <a:cs typeface="Inter"/>
              </a:rPr>
              <a:t>But the success criteria underneath do not match.</a:t>
            </a:r>
          </a:p>
        </p:txBody>
      </p:sp>
      <p:sp>
        <p:nvSpPr>
          <p:cNvPr id="10" name="">
            <a:extLst xmlns:a="http://schemas.openxmlformats.org/drawingml/2006/main">
              <a:ext uri="{FF2B5EF4-FFF2-40B4-BE49-F238E27FC236}">
                <a16:creationId xmlns:a16="http://schemas.microsoft.com/office/drawing/2014/main" id="{5925B920-398B-4730-B4A9-CCA806F642F5}"/>
              </a:ext>
            </a:extLst>
          </p:cNvPr>
          <p:cNvSpPr>
            <a:spLocks xmlns:a="http://schemas.openxmlformats.org/drawingml/2006/main" noGrp="1"/>
          </p:cNvSpPr>
          <p:nvPr/>
        </p:nvSpPr>
        <p:spPr>
          <a:xfrm xmlns:a="http://schemas.openxmlformats.org/drawingml/2006/main">
            <a:off x="6381750" y="2095500"/>
            <a:ext cx="2038350" cy="895350"/>
          </a:xfrm>
          <a:prstGeom xmlns:a="http://schemas.openxmlformats.org/drawingml/2006/main" prst="roundRect">
            <a:avLst>
              <a:gd name="adj" fmla="val 8511"/>
            </a:avLst>
          </a:prstGeom>
          <a:solidFill xmlns:a="http://schemas.openxmlformats.org/drawingml/2006/main">
            <a:srgbClr val="F9F9F9"/>
          </a:solidFill>
          <a:ln xmlns:a="http://schemas.openxmlformats.org/drawingml/2006/main" w="9525">
            <a:solidFill>
              <a:srgbClr val="EDEDED"/>
            </a:solidFill>
          </a:ln>
        </p:spPr>
      </p:sp>
      <p:sp>
        <p:nvSpPr>
          <p:cNvPr id="11" name="">
            <a:extLst xmlns:a="http://schemas.openxmlformats.org/drawingml/2006/main">
              <a:ext uri="{FF2B5EF4-FFF2-40B4-BE49-F238E27FC236}">
                <a16:creationId xmlns:a16="http://schemas.microsoft.com/office/drawing/2014/main" id="{B6CF99B9-982C-451B-B3CB-03EF16C80F5D}"/>
              </a:ext>
            </a:extLst>
          </p:cNvPr>
          <p:cNvSpPr>
            <a:spLocks xmlns:a="http://schemas.openxmlformats.org/drawingml/2006/main" noGrp="1"/>
          </p:cNvSpPr>
          <p:nvPr/>
        </p:nvSpPr>
        <p:spPr>
          <a:xfrm xmlns:a="http://schemas.openxmlformats.org/drawingml/2006/main">
            <a:off x="6553200" y="2247900"/>
            <a:ext cx="1524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900" b="1">
                <a:solidFill>
                  <a:srgbClr val="282828"/>
                </a:solidFill>
                <a:latin typeface="Inter"/>
                <a:ea typeface="Inter"/>
                <a:cs typeface="Inter"/>
              </a:rPr>
              <a:t>Growth</a:t>
            </a:r>
          </a:p>
        </p:txBody>
      </p:sp>
      <p:sp>
        <p:nvSpPr>
          <p:cNvPr id="12" name="">
            <a:extLst xmlns:a="http://schemas.openxmlformats.org/drawingml/2006/main">
              <a:ext uri="{FF2B5EF4-FFF2-40B4-BE49-F238E27FC236}">
                <a16:creationId xmlns:a16="http://schemas.microsoft.com/office/drawing/2014/main" id="{35504C91-1300-435E-88F9-DA5676F4B857}"/>
              </a:ext>
            </a:extLst>
          </p:cNvPr>
          <p:cNvSpPr>
            <a:spLocks xmlns:a="http://schemas.openxmlformats.org/drawingml/2006/main" noGrp="1"/>
          </p:cNvSpPr>
          <p:nvPr/>
        </p:nvSpPr>
        <p:spPr>
          <a:xfrm xmlns:a="http://schemas.openxmlformats.org/drawingml/2006/main">
            <a:off x="6553200" y="2457450"/>
            <a:ext cx="16954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125">
                <a:solidFill>
                  <a:srgbClr val="181818"/>
                </a:solidFill>
                <a:latin typeface="Inter"/>
                <a:ea typeface="Inter"/>
                <a:cs typeface="Inter"/>
              </a:rPr>
              <a:t>Acquisition, app installs, first purchases</a:t>
            </a:r>
          </a:p>
        </p:txBody>
      </p:sp>
      <p:sp>
        <p:nvSpPr>
          <p:cNvPr id="13" name="">
            <a:extLst xmlns:a="http://schemas.openxmlformats.org/drawingml/2006/main">
              <a:ext uri="{FF2B5EF4-FFF2-40B4-BE49-F238E27FC236}">
                <a16:creationId xmlns:a16="http://schemas.microsoft.com/office/drawing/2014/main" id="{18B30376-72DF-4E01-916B-A1EA8FF07DF6}"/>
              </a:ext>
            </a:extLst>
          </p:cNvPr>
          <p:cNvSpPr>
            <a:spLocks xmlns:a="http://schemas.openxmlformats.org/drawingml/2006/main" noGrp="1"/>
          </p:cNvSpPr>
          <p:nvPr/>
        </p:nvSpPr>
        <p:spPr>
          <a:xfrm xmlns:a="http://schemas.openxmlformats.org/drawingml/2006/main">
            <a:off x="8686800" y="2095500"/>
            <a:ext cx="2038350" cy="895350"/>
          </a:xfrm>
          <a:prstGeom xmlns:a="http://schemas.openxmlformats.org/drawingml/2006/main" prst="roundRect">
            <a:avLst>
              <a:gd name="adj" fmla="val 8511"/>
            </a:avLst>
          </a:prstGeom>
          <a:solidFill xmlns:a="http://schemas.openxmlformats.org/drawingml/2006/main">
            <a:srgbClr val="F9F9F9"/>
          </a:solidFill>
          <a:ln xmlns:a="http://schemas.openxmlformats.org/drawingml/2006/main" w="9525">
            <a:solidFill>
              <a:srgbClr val="EDEDED"/>
            </a:solidFill>
          </a:ln>
        </p:spPr>
      </p:sp>
      <p:sp>
        <p:nvSpPr>
          <p:cNvPr id="14" name="">
            <a:extLst xmlns:a="http://schemas.openxmlformats.org/drawingml/2006/main">
              <a:ext uri="{FF2B5EF4-FFF2-40B4-BE49-F238E27FC236}">
                <a16:creationId xmlns:a16="http://schemas.microsoft.com/office/drawing/2014/main" id="{DB978575-D007-4936-AEDF-74F2F159FF0C}"/>
              </a:ext>
            </a:extLst>
          </p:cNvPr>
          <p:cNvSpPr>
            <a:spLocks xmlns:a="http://schemas.openxmlformats.org/drawingml/2006/main" noGrp="1"/>
          </p:cNvSpPr>
          <p:nvPr/>
        </p:nvSpPr>
        <p:spPr>
          <a:xfrm xmlns:a="http://schemas.openxmlformats.org/drawingml/2006/main">
            <a:off x="8858250" y="2247900"/>
            <a:ext cx="1524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900" b="1">
                <a:solidFill>
                  <a:srgbClr val="282828"/>
                </a:solidFill>
                <a:latin typeface="Inter"/>
                <a:ea typeface="Inter"/>
                <a:cs typeface="Inter"/>
              </a:rPr>
              <a:t>Commerce</a:t>
            </a:r>
          </a:p>
        </p:txBody>
      </p:sp>
      <p:sp>
        <p:nvSpPr>
          <p:cNvPr id="15" name="">
            <a:extLst xmlns:a="http://schemas.openxmlformats.org/drawingml/2006/main">
              <a:ext uri="{FF2B5EF4-FFF2-40B4-BE49-F238E27FC236}">
                <a16:creationId xmlns:a16="http://schemas.microsoft.com/office/drawing/2014/main" id="{FAF71905-CA34-499D-BF32-C330C804BC91}"/>
              </a:ext>
            </a:extLst>
          </p:cNvPr>
          <p:cNvSpPr>
            <a:spLocks xmlns:a="http://schemas.openxmlformats.org/drawingml/2006/main" noGrp="1"/>
          </p:cNvSpPr>
          <p:nvPr/>
        </p:nvSpPr>
        <p:spPr>
          <a:xfrm xmlns:a="http://schemas.openxmlformats.org/drawingml/2006/main">
            <a:off x="8858250" y="2457450"/>
            <a:ext cx="16954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125">
                <a:solidFill>
                  <a:srgbClr val="181818"/>
                </a:solidFill>
                <a:latin typeface="Inter"/>
                <a:ea typeface="Inter"/>
                <a:cs typeface="Inter"/>
              </a:rPr>
              <a:t>GMV, voucher redemption, live conversion</a:t>
            </a:r>
          </a:p>
        </p:txBody>
      </p:sp>
      <p:sp>
        <p:nvSpPr>
          <p:cNvPr id="16" name="">
            <a:extLst xmlns:a="http://schemas.openxmlformats.org/drawingml/2006/main">
              <a:ext uri="{FF2B5EF4-FFF2-40B4-BE49-F238E27FC236}">
                <a16:creationId xmlns:a16="http://schemas.microsoft.com/office/drawing/2014/main" id="{55AB1194-00F8-4629-9865-749DE670E609}"/>
              </a:ext>
            </a:extLst>
          </p:cNvPr>
          <p:cNvSpPr>
            <a:spLocks xmlns:a="http://schemas.openxmlformats.org/drawingml/2006/main" noGrp="1"/>
          </p:cNvSpPr>
          <p:nvPr/>
        </p:nvSpPr>
        <p:spPr>
          <a:xfrm xmlns:a="http://schemas.openxmlformats.org/drawingml/2006/main">
            <a:off x="6381750" y="3352800"/>
            <a:ext cx="2038350" cy="895350"/>
          </a:xfrm>
          <a:prstGeom xmlns:a="http://schemas.openxmlformats.org/drawingml/2006/main" prst="roundRect">
            <a:avLst>
              <a:gd name="adj" fmla="val 8511"/>
            </a:avLst>
          </a:prstGeom>
          <a:solidFill xmlns:a="http://schemas.openxmlformats.org/drawingml/2006/main">
            <a:srgbClr val="F3F3F3"/>
          </a:solidFill>
          <a:ln xmlns:a="http://schemas.openxmlformats.org/drawingml/2006/main" w="9525">
            <a:solidFill>
              <a:srgbClr val="EDEDED"/>
            </a:solidFill>
          </a:ln>
        </p:spPr>
      </p:sp>
      <p:sp>
        <p:nvSpPr>
          <p:cNvPr id="17" name="">
            <a:extLst xmlns:a="http://schemas.openxmlformats.org/drawingml/2006/main">
              <a:ext uri="{FF2B5EF4-FFF2-40B4-BE49-F238E27FC236}">
                <a16:creationId xmlns:a16="http://schemas.microsoft.com/office/drawing/2014/main" id="{78F5D1AE-0242-4AB7-8411-E7EAF8617B79}"/>
              </a:ext>
            </a:extLst>
          </p:cNvPr>
          <p:cNvSpPr>
            <a:spLocks xmlns:a="http://schemas.openxmlformats.org/drawingml/2006/main" noGrp="1"/>
          </p:cNvSpPr>
          <p:nvPr/>
        </p:nvSpPr>
        <p:spPr>
          <a:xfrm xmlns:a="http://schemas.openxmlformats.org/drawingml/2006/main">
            <a:off x="6553200" y="3505200"/>
            <a:ext cx="1524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900" b="1">
                <a:solidFill>
                  <a:srgbClr val="282828"/>
                </a:solidFill>
                <a:latin typeface="Inter"/>
                <a:ea typeface="Inter"/>
                <a:cs typeface="Inter"/>
              </a:rPr>
              <a:t>Campaign Lead</a:t>
            </a:r>
          </a:p>
        </p:txBody>
      </p:sp>
      <p:sp>
        <p:nvSpPr>
          <p:cNvPr id="18" name="">
            <a:extLst xmlns:a="http://schemas.openxmlformats.org/drawingml/2006/main">
              <a:ext uri="{FF2B5EF4-FFF2-40B4-BE49-F238E27FC236}">
                <a16:creationId xmlns:a16="http://schemas.microsoft.com/office/drawing/2014/main" id="{9C5C6CDA-9B88-4B67-85F3-0C63C2436061}"/>
              </a:ext>
            </a:extLst>
          </p:cNvPr>
          <p:cNvSpPr>
            <a:spLocks xmlns:a="http://schemas.openxmlformats.org/drawingml/2006/main" noGrp="1"/>
          </p:cNvSpPr>
          <p:nvPr/>
        </p:nvSpPr>
        <p:spPr>
          <a:xfrm xmlns:a="http://schemas.openxmlformats.org/drawingml/2006/main">
            <a:off x="6553200" y="3714750"/>
            <a:ext cx="16954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125">
                <a:solidFill>
                  <a:srgbClr val="181818"/>
                </a:solidFill>
                <a:latin typeface="Inter"/>
                <a:ea typeface="Inter"/>
                <a:cs typeface="Inter"/>
              </a:rPr>
              <a:t>Mainstream-safe youth reach</a:t>
            </a:r>
          </a:p>
        </p:txBody>
      </p:sp>
      <p:sp>
        <p:nvSpPr>
          <p:cNvPr id="19" name="">
            <a:extLst xmlns:a="http://schemas.openxmlformats.org/drawingml/2006/main">
              <a:ext uri="{FF2B5EF4-FFF2-40B4-BE49-F238E27FC236}">
                <a16:creationId xmlns:a16="http://schemas.microsoft.com/office/drawing/2014/main" id="{97E6D868-4D5D-4A46-BD54-9B317E036064}"/>
              </a:ext>
            </a:extLst>
          </p:cNvPr>
          <p:cNvSpPr>
            <a:spLocks xmlns:a="http://schemas.openxmlformats.org/drawingml/2006/main" noGrp="1"/>
          </p:cNvSpPr>
          <p:nvPr/>
        </p:nvSpPr>
        <p:spPr>
          <a:xfrm xmlns:a="http://schemas.openxmlformats.org/drawingml/2006/main">
            <a:off x="8686800" y="3352800"/>
            <a:ext cx="2038350" cy="895350"/>
          </a:xfrm>
          <a:prstGeom xmlns:a="http://schemas.openxmlformats.org/drawingml/2006/main" prst="roundRect">
            <a:avLst>
              <a:gd name="adj" fmla="val 8511"/>
            </a:avLst>
          </a:prstGeom>
          <a:solidFill xmlns:a="http://schemas.openxmlformats.org/drawingml/2006/main">
            <a:srgbClr val="FFFFFF"/>
          </a:solidFill>
          <a:ln xmlns:a="http://schemas.openxmlformats.org/drawingml/2006/main" w="9525">
            <a:solidFill>
              <a:srgbClr val="282828"/>
            </a:solidFill>
          </a:ln>
        </p:spPr>
      </p:sp>
      <p:sp>
        <p:nvSpPr>
          <p:cNvPr id="20" name="">
            <a:extLst xmlns:a="http://schemas.openxmlformats.org/drawingml/2006/main">
              <a:ext uri="{FF2B5EF4-FFF2-40B4-BE49-F238E27FC236}">
                <a16:creationId xmlns:a16="http://schemas.microsoft.com/office/drawing/2014/main" id="{CD99C3B3-09F5-4845-A094-30E14203812C}"/>
              </a:ext>
            </a:extLst>
          </p:cNvPr>
          <p:cNvSpPr>
            <a:spLocks xmlns:a="http://schemas.openxmlformats.org/drawingml/2006/main" noGrp="1"/>
          </p:cNvSpPr>
          <p:nvPr/>
        </p:nvSpPr>
        <p:spPr>
          <a:xfrm xmlns:a="http://schemas.openxmlformats.org/drawingml/2006/main">
            <a:off x="8858250" y="3505200"/>
            <a:ext cx="1524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900" b="1">
                <a:solidFill>
                  <a:srgbClr val="282828"/>
                </a:solidFill>
                <a:latin typeface="Inter"/>
                <a:ea typeface="Inter"/>
                <a:cs typeface="Inter"/>
              </a:rPr>
              <a:t>Naive baseline</a:t>
            </a:r>
          </a:p>
        </p:txBody>
      </p:sp>
      <p:sp>
        <p:nvSpPr>
          <p:cNvPr id="21" name="">
            <a:extLst xmlns:a="http://schemas.openxmlformats.org/drawingml/2006/main">
              <a:ext uri="{FF2B5EF4-FFF2-40B4-BE49-F238E27FC236}">
                <a16:creationId xmlns:a16="http://schemas.microsoft.com/office/drawing/2014/main" id="{4F6EACDA-F948-4BA7-9D43-244613102A30}"/>
              </a:ext>
            </a:extLst>
          </p:cNvPr>
          <p:cNvSpPr>
            <a:spLocks xmlns:a="http://schemas.openxmlformats.org/drawingml/2006/main" noGrp="1"/>
          </p:cNvSpPr>
          <p:nvPr/>
        </p:nvSpPr>
        <p:spPr>
          <a:xfrm xmlns:a="http://schemas.openxmlformats.org/drawingml/2006/main">
            <a:off x="8858250" y="3714750"/>
            <a:ext cx="16954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125">
                <a:solidFill>
                  <a:srgbClr val="181818"/>
                </a:solidFill>
                <a:latin typeface="Inter"/>
                <a:ea typeface="Inter"/>
                <a:cs typeface="Inter"/>
              </a:rPr>
              <a:t>Marks the objective agreed</a:t>
            </a:r>
          </a:p>
        </p:txBody>
      </p:sp>
      <p:sp>
        <p:nvSpPr>
          <p:cNvPr id="22" name="">
            <a:extLst xmlns:a="http://schemas.openxmlformats.org/drawingml/2006/main">
              <a:ext uri="{FF2B5EF4-FFF2-40B4-BE49-F238E27FC236}">
                <a16:creationId xmlns:a16="http://schemas.microsoft.com/office/drawing/2014/main" id="{1EEBB38C-090A-47E6-9081-469F64B8A8BC}"/>
              </a:ext>
            </a:extLst>
          </p:cNvPr>
          <p:cNvSpPr>
            <a:spLocks xmlns:a="http://schemas.openxmlformats.org/drawingml/2006/main" noGrp="1"/>
          </p:cNvSpPr>
          <p:nvPr/>
        </p:nvSpPr>
        <p:spPr>
          <a:xfrm xmlns:a="http://schemas.openxmlformats.org/drawingml/2006/main">
            <a:off x="6381750" y="4762500"/>
            <a:ext cx="4343400" cy="9525"/>
          </a:xfrm>
          <a:prstGeom xmlns:a="http://schemas.openxmlformats.org/drawingml/2006/main" prst="rect">
            <a:avLst/>
          </a:prstGeom>
          <a:solidFill xmlns:a="http://schemas.openxmlformats.org/drawingml/2006/main">
            <a:srgbClr val="EDEDED"/>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38A3CB9D-57D6-4902-8CA5-55CD801643B0}"/>
              </a:ext>
            </a:extLst>
          </p:cNvPr>
          <p:cNvSpPr>
            <a:spLocks xmlns:a="http://schemas.openxmlformats.org/drawingml/2006/main" noGrp="1"/>
          </p:cNvSpPr>
          <p:nvPr/>
        </p:nvSpPr>
        <p:spPr>
          <a:xfrm xmlns:a="http://schemas.openxmlformats.org/drawingml/2006/main">
            <a:off x="6381750" y="501015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725" b="1">
                <a:solidFill>
                  <a:srgbClr val="181818"/>
                </a:solidFill>
                <a:latin typeface="Inter"/>
                <a:ea typeface="Inter"/>
                <a:cs typeface="Inter"/>
              </a:rPr>
              <a:t>Product wedge: preserve meeting time for decisions, not assumption discovery.</a:t>
            </a:r>
          </a:p>
        </p:txBody>
      </p:sp>
    </p:spTree>
    <p:extLst>
      <p:ext uri="{BB962C8B-B14F-4D97-AF65-F5344CB8AC3E}">
        <p14:creationId xmlns:p14="http://schemas.microsoft.com/office/powerpoint/2010/main" val="205305263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 name=""/>
          <p:cNvPicPr>
            <a:picLocks xmlns:a="http://schemas.openxmlformats.org/drawingml/2006/main" noChangeAspect="1"/>
          </p:cNvPicPr>
          <p:nvPr/>
        </p:nvPicPr>
        <p:blipFill>
          <a:blip xmlns:r="http://schemas.openxmlformats.org/officeDocument/2006/relationships" xmlns:a="http://schemas.openxmlformats.org/drawingml/2006/main" r:embed="R90313174aea74ca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FDACDF7-48F7-44C8-A729-601B3E1BE950}"/>
              </a:ext>
            </a:extLst>
          </p:cNvPr>
          <p:cNvSpPr>
            <a:spLocks xmlns:a="http://schemas.openxmlformats.org/drawingml/2006/main" noGrp="1"/>
          </p:cNvSpPr>
          <p:nvPr/>
        </p:nvSpPr>
        <p:spPr>
          <a:xfrm xmlns:a="http://schemas.openxmlformats.org/drawingml/2006/main">
            <a:off x="685800" y="4191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19050" rIns="0" bIns="0">
            <a:noAutofit/>
          </a:bodyPr>
          <a:lstStyle xmlns:a="http://schemas.openxmlformats.org/drawingml/2006/main"/>
          <a:p xmlns:a="http://schemas.openxmlformats.org/drawingml/2006/main">
            <a:r>
              <a:rPr sz="975" b="1">
                <a:solidFill>
                  <a:srgbClr val="5D605E"/>
                </a:solidFill>
                <a:latin typeface="Inter"/>
                <a:ea typeface="Inter"/>
                <a:cs typeface="Inter"/>
              </a:rPr>
              <a:t>PRODUCT</a:t>
            </a:r>
          </a:p>
        </p:txBody>
      </p:sp>
      <p:sp>
        <p:nvSpPr>
          <p:cNvPr id="3" name="">
            <a:extLst xmlns:a="http://schemas.openxmlformats.org/drawingml/2006/main">
              <a:ext uri="{FF2B5EF4-FFF2-40B4-BE49-F238E27FC236}">
                <a16:creationId xmlns:a16="http://schemas.microsoft.com/office/drawing/2014/main" id="{C8430216-9EC6-4701-9901-BD2DC5F436D5}"/>
              </a:ext>
            </a:extLst>
          </p:cNvPr>
          <p:cNvSpPr>
            <a:spLocks xmlns:a="http://schemas.openxmlformats.org/drawingml/2006/main" noGrp="1"/>
          </p:cNvSpPr>
          <p:nvPr/>
        </p:nvSpPr>
        <p:spPr>
          <a:xfrm xmlns:a="http://schemas.openxmlformats.org/drawingml/2006/main">
            <a:off x="666750" y="723900"/>
            <a:ext cx="8763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3000">
                <a:solidFill>
                  <a:srgbClr val="181818"/>
                </a:solidFill>
                <a:latin typeface="Inter"/>
                <a:ea typeface="Inter"/>
                <a:cs typeface="Inter"/>
              </a:rPr>
              <a:t>Mochi turns one Slack DM into</a:t>
            </a:r>
          </a:p>
          <a:p xmlns:a="http://schemas.openxmlformats.org/drawingml/2006/main">
            <a:r>
              <a:rPr sz="3000">
                <a:solidFill>
                  <a:srgbClr val="181818"/>
                </a:solidFill>
                <a:latin typeface="Inter"/>
                <a:ea typeface="Inter"/>
                <a:cs typeface="Inter"/>
              </a:rPr>
              <a:t>a pre-meeting brief.</a:t>
            </a:r>
          </a:p>
        </p:txBody>
      </p:sp>
      <p:sp>
        <p:nvSpPr>
          <p:cNvPr id="4" name="">
            <a:extLst xmlns:a="http://schemas.openxmlformats.org/drawingml/2006/main">
              <a:ext uri="{FF2B5EF4-FFF2-40B4-BE49-F238E27FC236}">
                <a16:creationId xmlns:a16="http://schemas.microsoft.com/office/drawing/2014/main" id="{92CFAC22-E2AF-4FAB-8CF6-2213718B0E33}"/>
              </a:ext>
            </a:extLst>
          </p:cNvPr>
          <p:cNvSpPr>
            <a:spLocks xmlns:a="http://schemas.openxmlformats.org/drawingml/2006/main" noGrp="1"/>
          </p:cNvSpPr>
          <p:nvPr/>
        </p:nvSpPr>
        <p:spPr>
          <a:xfrm xmlns:a="http://schemas.openxmlformats.org/drawingml/2006/main">
            <a:off x="685800" y="6515100"/>
            <a:ext cx="723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750">
                <a:solidFill>
                  <a:srgbClr val="5D605E"/>
                </a:solidFill>
                <a:latin typeface="Inter"/>
                <a:ea typeface="Inter"/>
                <a:cs typeface="Inter"/>
              </a:rPr>
              <a:t>Sources: docs/design-spec.md, docs/pitch-script.md</a:t>
            </a:r>
          </a:p>
        </p:txBody>
      </p:sp>
      <p:sp>
        <p:nvSpPr>
          <p:cNvPr id="5" name="">
            <a:extLst xmlns:a="http://schemas.openxmlformats.org/drawingml/2006/main">
              <a:ext uri="{FF2B5EF4-FFF2-40B4-BE49-F238E27FC236}">
                <a16:creationId xmlns:a16="http://schemas.microsoft.com/office/drawing/2014/main" id="{B91E98EE-FC88-4693-AFF6-811676641AB1}"/>
              </a:ext>
            </a:extLst>
          </p:cNvPr>
          <p:cNvSpPr>
            <a:spLocks xmlns:a="http://schemas.openxmlformats.org/drawingml/2006/main" noGrp="1"/>
          </p:cNvSpPr>
          <p:nvPr/>
        </p:nvSpPr>
        <p:spPr>
          <a:xfrm xmlns:a="http://schemas.openxmlformats.org/drawingml/2006/main">
            <a:off x="11239500" y="6515100"/>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750">
                <a:solidFill>
                  <a:srgbClr val="5D605E"/>
                </a:solidFill>
                <a:latin typeface="Inter"/>
                <a:ea typeface="Inter"/>
                <a:cs typeface="Inter"/>
              </a:defRPr>
            </a:pPr>
            <a:r>
              <a:rPr sz="750">
                <a:solidFill>
                  <a:srgbClr val="5D605E"/>
                </a:solidFill>
                <a:latin typeface="Inter"/>
                <a:ea typeface="Inter"/>
                <a:cs typeface="Inter"/>
              </a:rPr>
              <a:t>03</a:t>
            </a:r>
          </a:p>
        </p:txBody>
      </p:sp>
      <p:sp>
        <p:nvSpPr>
          <p:cNvPr id="6" name="">
            <a:extLst xmlns:a="http://schemas.openxmlformats.org/drawingml/2006/main">
              <a:ext uri="{FF2B5EF4-FFF2-40B4-BE49-F238E27FC236}">
                <a16:creationId xmlns:a16="http://schemas.microsoft.com/office/drawing/2014/main" id="{1EA0A5F4-AD84-428A-ADD8-75939700D0F5}"/>
              </a:ext>
            </a:extLst>
          </p:cNvPr>
          <p:cNvSpPr>
            <a:spLocks xmlns:a="http://schemas.openxmlformats.org/drawingml/2006/main" noGrp="1"/>
          </p:cNvSpPr>
          <p:nvPr/>
        </p:nvSpPr>
        <p:spPr>
          <a:xfrm xmlns:a="http://schemas.openxmlformats.org/drawingml/2006/main">
            <a:off x="666750" y="2305050"/>
            <a:ext cx="1733550" cy="1676400"/>
          </a:xfrm>
          <a:prstGeom xmlns:a="http://schemas.openxmlformats.org/drawingml/2006/main" prst="roundRect">
            <a:avLst>
              <a:gd name="adj" fmla="val 4545"/>
            </a:avLst>
          </a:prstGeom>
          <a:solidFill xmlns:a="http://schemas.openxmlformats.org/drawingml/2006/main">
            <a:srgbClr val="FFFFFF"/>
          </a:solidFill>
          <a:ln xmlns:a="http://schemas.openxmlformats.org/drawingml/2006/main" w="9525">
            <a:solidFill>
              <a:srgbClr val="EDEDED"/>
            </a:solidFill>
          </a:ln>
        </p:spPr>
      </p:sp>
      <p:sp>
        <p:nvSpPr>
          <p:cNvPr id="7" name="">
            <a:extLst xmlns:a="http://schemas.openxmlformats.org/drawingml/2006/main">
              <a:ext uri="{FF2B5EF4-FFF2-40B4-BE49-F238E27FC236}">
                <a16:creationId xmlns:a16="http://schemas.microsoft.com/office/drawing/2014/main" id="{3E1ADCC0-901D-46DB-9EC0-816BFF9685A7}"/>
              </a:ext>
            </a:extLst>
          </p:cNvPr>
          <p:cNvSpPr>
            <a:spLocks xmlns:a="http://schemas.openxmlformats.org/drawingml/2006/main" noGrp="1"/>
          </p:cNvSpPr>
          <p:nvPr/>
        </p:nvSpPr>
        <p:spPr>
          <a:xfrm xmlns:a="http://schemas.openxmlformats.org/drawingml/2006/main">
            <a:off x="838200" y="2552700"/>
            <a:ext cx="1390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125" b="1">
                <a:solidFill>
                  <a:srgbClr val="282828"/>
                </a:solidFill>
                <a:latin typeface="Inter"/>
                <a:ea typeface="Inter"/>
                <a:cs typeface="Inter"/>
              </a:rPr>
              <a:t>Free-form DM</a:t>
            </a:r>
          </a:p>
        </p:txBody>
      </p:sp>
      <p:sp>
        <p:nvSpPr>
          <p:cNvPr id="8" name="">
            <a:extLst xmlns:a="http://schemas.openxmlformats.org/drawingml/2006/main">
              <a:ext uri="{FF2B5EF4-FFF2-40B4-BE49-F238E27FC236}">
                <a16:creationId xmlns:a16="http://schemas.microsoft.com/office/drawing/2014/main" id="{B0D5F83A-C52A-49E8-BEEE-3D918FBC681B}"/>
              </a:ext>
            </a:extLst>
          </p:cNvPr>
          <p:cNvSpPr>
            <a:spLocks xmlns:a="http://schemas.openxmlformats.org/drawingml/2006/main" noGrp="1"/>
          </p:cNvSpPr>
          <p:nvPr/>
        </p:nvSpPr>
        <p:spPr>
          <a:xfrm xmlns:a="http://schemas.openxmlformats.org/drawingml/2006/main">
            <a:off x="838200" y="2933700"/>
            <a:ext cx="13906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350">
                <a:solidFill>
                  <a:srgbClr val="181818"/>
                </a:solidFill>
                <a:latin typeface="Inter"/>
                <a:ea typeface="Inter"/>
                <a:cs typeface="Inter"/>
              </a:rPr>
              <a:t>John writes prep</a:t>
            </a:r>
          </a:p>
          <a:p xmlns:a="http://schemas.openxmlformats.org/drawingml/2006/main">
            <a:r>
              <a:rPr sz="1350">
                <a:solidFill>
                  <a:srgbClr val="181818"/>
                </a:solidFill>
                <a:latin typeface="Inter"/>
                <a:ea typeface="Inter"/>
                <a:cs typeface="Inter"/>
              </a:rPr>
              <a:t>+ teammate mentions</a:t>
            </a:r>
          </a:p>
        </p:txBody>
      </p:sp>
      <p:sp>
        <p:nvSpPr>
          <p:cNvPr id="9" name="">
            <a:extLst xmlns:a="http://schemas.openxmlformats.org/drawingml/2006/main">
              <a:ext uri="{FF2B5EF4-FFF2-40B4-BE49-F238E27FC236}">
                <a16:creationId xmlns:a16="http://schemas.microsoft.com/office/drawing/2014/main" id="{7E930DD4-8704-4BB0-980C-6F95E10E5378}"/>
              </a:ext>
            </a:extLst>
          </p:cNvPr>
          <p:cNvSpPr>
            <a:spLocks xmlns:a="http://schemas.openxmlformats.org/drawingml/2006/main" noGrp="1"/>
          </p:cNvSpPr>
          <p:nvPr/>
        </p:nvSpPr>
        <p:spPr>
          <a:xfrm xmlns:a="http://schemas.openxmlformats.org/drawingml/2006/main">
            <a:off x="2476500" y="3105150"/>
            <a:ext cx="285750" cy="19050"/>
          </a:xfrm>
          <a:prstGeom xmlns:a="http://schemas.openxmlformats.org/drawingml/2006/main" prst="rect">
            <a:avLst/>
          </a:prstGeom>
          <a:solidFill xmlns:a="http://schemas.openxmlformats.org/drawingml/2006/main">
            <a:srgbClr val="EDEDED"/>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3DB0933-B1BC-45CF-BF68-3288BBCF91ED}"/>
              </a:ext>
            </a:extLst>
          </p:cNvPr>
          <p:cNvSpPr>
            <a:spLocks xmlns:a="http://schemas.openxmlformats.org/drawingml/2006/main" noGrp="1"/>
          </p:cNvSpPr>
          <p:nvPr/>
        </p:nvSpPr>
        <p:spPr>
          <a:xfrm xmlns:a="http://schemas.openxmlformats.org/drawingml/2006/main">
            <a:off x="2743200" y="3067050"/>
            <a:ext cx="133350" cy="95250"/>
          </a:xfrm>
          <a:prstGeom xmlns:a="http://schemas.openxmlformats.org/drawingml/2006/main" prst="triangle">
            <a:avLst/>
          </a:prstGeom>
          <a:solidFill xmlns:a="http://schemas.openxmlformats.org/drawingml/2006/main">
            <a:srgbClr val="EDEDED"/>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6A2CA78-4A38-4E3C-8231-B4615E9FDB24}"/>
              </a:ext>
            </a:extLst>
          </p:cNvPr>
          <p:cNvSpPr>
            <a:spLocks xmlns:a="http://schemas.openxmlformats.org/drawingml/2006/main" noGrp="1"/>
          </p:cNvSpPr>
          <p:nvPr/>
        </p:nvSpPr>
        <p:spPr>
          <a:xfrm xmlns:a="http://schemas.openxmlformats.org/drawingml/2006/main">
            <a:off x="2876550" y="2305050"/>
            <a:ext cx="1733550" cy="1676400"/>
          </a:xfrm>
          <a:prstGeom xmlns:a="http://schemas.openxmlformats.org/drawingml/2006/main" prst="roundRect">
            <a:avLst>
              <a:gd name="adj" fmla="val 4545"/>
            </a:avLst>
          </a:prstGeom>
          <a:solidFill xmlns:a="http://schemas.openxmlformats.org/drawingml/2006/main">
            <a:srgbClr val="FFFFFF"/>
          </a:solidFill>
          <a:ln xmlns:a="http://schemas.openxmlformats.org/drawingml/2006/main" w="9525">
            <a:solidFill>
              <a:srgbClr val="EDEDED"/>
            </a:solidFill>
          </a:ln>
        </p:spPr>
      </p:sp>
      <p:sp>
        <p:nvSpPr>
          <p:cNvPr id="12" name="">
            <a:extLst xmlns:a="http://schemas.openxmlformats.org/drawingml/2006/main">
              <a:ext uri="{FF2B5EF4-FFF2-40B4-BE49-F238E27FC236}">
                <a16:creationId xmlns:a16="http://schemas.microsoft.com/office/drawing/2014/main" id="{A70D695F-8562-48BC-88FB-BFFFD62CCFCA}"/>
              </a:ext>
            </a:extLst>
          </p:cNvPr>
          <p:cNvSpPr>
            <a:spLocks xmlns:a="http://schemas.openxmlformats.org/drawingml/2006/main" noGrp="1"/>
          </p:cNvSpPr>
          <p:nvPr/>
        </p:nvSpPr>
        <p:spPr>
          <a:xfrm xmlns:a="http://schemas.openxmlformats.org/drawingml/2006/main">
            <a:off x="3048000" y="2552700"/>
            <a:ext cx="1390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125" b="1">
                <a:solidFill>
                  <a:srgbClr val="282828"/>
                </a:solidFill>
                <a:latin typeface="Inter"/>
                <a:ea typeface="Inter"/>
                <a:cs typeface="Inter"/>
              </a:rPr>
              <a:t>Roster parse</a:t>
            </a:r>
          </a:p>
        </p:txBody>
      </p:sp>
      <p:sp>
        <p:nvSpPr>
          <p:cNvPr id="13" name="">
            <a:extLst xmlns:a="http://schemas.openxmlformats.org/drawingml/2006/main">
              <a:ext uri="{FF2B5EF4-FFF2-40B4-BE49-F238E27FC236}">
                <a16:creationId xmlns:a16="http://schemas.microsoft.com/office/drawing/2014/main" id="{BA2E1791-E583-49F1-82FD-A29C609F6011}"/>
              </a:ext>
            </a:extLst>
          </p:cNvPr>
          <p:cNvSpPr>
            <a:spLocks xmlns:a="http://schemas.openxmlformats.org/drawingml/2006/main" noGrp="1"/>
          </p:cNvSpPr>
          <p:nvPr/>
        </p:nvSpPr>
        <p:spPr>
          <a:xfrm xmlns:a="http://schemas.openxmlformats.org/drawingml/2006/main">
            <a:off x="3048000" y="2933700"/>
            <a:ext cx="13906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350">
                <a:solidFill>
                  <a:srgbClr val="181818"/>
                </a:solidFill>
                <a:latin typeface="Inter"/>
                <a:ea typeface="Inter"/>
                <a:cs typeface="Inter"/>
              </a:rPr>
              <a:t>Growth, Commerce,</a:t>
            </a:r>
          </a:p>
          <a:p xmlns:a="http://schemas.openxmlformats.org/drawingml/2006/main">
            <a:r>
              <a:rPr sz="1350">
                <a:solidFill>
                  <a:srgbClr val="181818"/>
                </a:solidFill>
                <a:latin typeface="Inter"/>
                <a:ea typeface="Inter"/>
                <a:cs typeface="Inter"/>
              </a:rPr>
              <a:t>Campaign Lead</a:t>
            </a:r>
          </a:p>
        </p:txBody>
      </p:sp>
      <p:sp>
        <p:nvSpPr>
          <p:cNvPr id="14" name="">
            <a:extLst xmlns:a="http://schemas.openxmlformats.org/drawingml/2006/main">
              <a:ext uri="{FF2B5EF4-FFF2-40B4-BE49-F238E27FC236}">
                <a16:creationId xmlns:a16="http://schemas.microsoft.com/office/drawing/2014/main" id="{A5BA3623-72AC-4C0A-BDD6-9D4284A8369D}"/>
              </a:ext>
            </a:extLst>
          </p:cNvPr>
          <p:cNvSpPr>
            <a:spLocks xmlns:a="http://schemas.openxmlformats.org/drawingml/2006/main" noGrp="1"/>
          </p:cNvSpPr>
          <p:nvPr/>
        </p:nvSpPr>
        <p:spPr>
          <a:xfrm xmlns:a="http://schemas.openxmlformats.org/drawingml/2006/main">
            <a:off x="4686300" y="3105150"/>
            <a:ext cx="285750" cy="19050"/>
          </a:xfrm>
          <a:prstGeom xmlns:a="http://schemas.openxmlformats.org/drawingml/2006/main" prst="rect">
            <a:avLst/>
          </a:prstGeom>
          <a:solidFill xmlns:a="http://schemas.openxmlformats.org/drawingml/2006/main">
            <a:srgbClr val="EDEDED"/>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DFD22DC-148B-4520-81EE-D77D5158F703}"/>
              </a:ext>
            </a:extLst>
          </p:cNvPr>
          <p:cNvSpPr>
            <a:spLocks xmlns:a="http://schemas.openxmlformats.org/drawingml/2006/main" noGrp="1"/>
          </p:cNvSpPr>
          <p:nvPr/>
        </p:nvSpPr>
        <p:spPr>
          <a:xfrm xmlns:a="http://schemas.openxmlformats.org/drawingml/2006/main">
            <a:off x="4953000" y="3067050"/>
            <a:ext cx="133350" cy="95250"/>
          </a:xfrm>
          <a:prstGeom xmlns:a="http://schemas.openxmlformats.org/drawingml/2006/main" prst="triangle">
            <a:avLst/>
          </a:prstGeom>
          <a:solidFill xmlns:a="http://schemas.openxmlformats.org/drawingml/2006/main">
            <a:srgbClr val="EDEDED"/>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F0EC5604-DA9C-4089-BFFD-1C1FB6E3F425}"/>
              </a:ext>
            </a:extLst>
          </p:cNvPr>
          <p:cNvSpPr>
            <a:spLocks xmlns:a="http://schemas.openxmlformats.org/drawingml/2006/main" noGrp="1"/>
          </p:cNvSpPr>
          <p:nvPr/>
        </p:nvSpPr>
        <p:spPr>
          <a:xfrm xmlns:a="http://schemas.openxmlformats.org/drawingml/2006/main">
            <a:off x="5086350" y="2305050"/>
            <a:ext cx="1733550" cy="1676400"/>
          </a:xfrm>
          <a:prstGeom xmlns:a="http://schemas.openxmlformats.org/drawingml/2006/main" prst="roundRect">
            <a:avLst>
              <a:gd name="adj" fmla="val 4545"/>
            </a:avLst>
          </a:prstGeom>
          <a:solidFill xmlns:a="http://schemas.openxmlformats.org/drawingml/2006/main">
            <a:srgbClr val="FFFFFF"/>
          </a:solidFill>
          <a:ln xmlns:a="http://schemas.openxmlformats.org/drawingml/2006/main" w="9525">
            <a:solidFill>
              <a:srgbClr val="EDEDED"/>
            </a:solidFill>
          </a:ln>
        </p:spPr>
      </p:sp>
      <p:sp>
        <p:nvSpPr>
          <p:cNvPr id="17" name="">
            <a:extLst xmlns:a="http://schemas.openxmlformats.org/drawingml/2006/main">
              <a:ext uri="{FF2B5EF4-FFF2-40B4-BE49-F238E27FC236}">
                <a16:creationId xmlns:a16="http://schemas.microsoft.com/office/drawing/2014/main" id="{0BF9A376-B02C-40B3-8691-BFC1BFE506CF}"/>
              </a:ext>
            </a:extLst>
          </p:cNvPr>
          <p:cNvSpPr>
            <a:spLocks xmlns:a="http://schemas.openxmlformats.org/drawingml/2006/main" noGrp="1"/>
          </p:cNvSpPr>
          <p:nvPr/>
        </p:nvSpPr>
        <p:spPr>
          <a:xfrm xmlns:a="http://schemas.openxmlformats.org/drawingml/2006/main">
            <a:off x="5257800" y="2552700"/>
            <a:ext cx="1390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125" b="1">
                <a:solidFill>
                  <a:srgbClr val="282828"/>
                </a:solidFill>
                <a:latin typeface="Inter"/>
                <a:ea typeface="Inter"/>
                <a:cs typeface="Inter"/>
              </a:rPr>
              <a:t>Participant DMs</a:t>
            </a:r>
          </a:p>
        </p:txBody>
      </p:sp>
      <p:sp>
        <p:nvSpPr>
          <p:cNvPr id="18" name="">
            <a:extLst xmlns:a="http://schemas.openxmlformats.org/drawingml/2006/main">
              <a:ext uri="{FF2B5EF4-FFF2-40B4-BE49-F238E27FC236}">
                <a16:creationId xmlns:a16="http://schemas.microsoft.com/office/drawing/2014/main" id="{EAB0B18D-EC4E-4526-9DB2-B9FFD5C99335}"/>
              </a:ext>
            </a:extLst>
          </p:cNvPr>
          <p:cNvSpPr>
            <a:spLocks xmlns:a="http://schemas.openxmlformats.org/drawingml/2006/main" noGrp="1"/>
          </p:cNvSpPr>
          <p:nvPr/>
        </p:nvSpPr>
        <p:spPr>
          <a:xfrm xmlns:a="http://schemas.openxmlformats.org/drawingml/2006/main">
            <a:off x="5257800" y="2933700"/>
            <a:ext cx="13906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350">
                <a:solidFill>
                  <a:srgbClr val="181818"/>
                </a:solidFill>
                <a:latin typeface="Inter"/>
                <a:ea typeface="Inter"/>
                <a:cs typeface="Inter"/>
              </a:rPr>
              <a:t>persistent agents collect</a:t>
            </a:r>
          </a:p>
          <a:p xmlns:a="http://schemas.openxmlformats.org/drawingml/2006/main">
            <a:r>
              <a:rPr sz="1350">
                <a:solidFill>
                  <a:srgbClr val="181818"/>
                </a:solidFill>
                <a:latin typeface="Inter"/>
                <a:ea typeface="Inter"/>
                <a:cs typeface="Inter"/>
              </a:rPr>
              <a:t>structured stances</a:t>
            </a:r>
          </a:p>
        </p:txBody>
      </p:sp>
      <p:sp>
        <p:nvSpPr>
          <p:cNvPr id="19" name="">
            <a:extLst xmlns:a="http://schemas.openxmlformats.org/drawingml/2006/main">
              <a:ext uri="{FF2B5EF4-FFF2-40B4-BE49-F238E27FC236}">
                <a16:creationId xmlns:a16="http://schemas.microsoft.com/office/drawing/2014/main" id="{F0FBD15C-DEE5-483E-8697-1AA9B60420B2}"/>
              </a:ext>
            </a:extLst>
          </p:cNvPr>
          <p:cNvSpPr>
            <a:spLocks xmlns:a="http://schemas.openxmlformats.org/drawingml/2006/main" noGrp="1"/>
          </p:cNvSpPr>
          <p:nvPr/>
        </p:nvSpPr>
        <p:spPr>
          <a:xfrm xmlns:a="http://schemas.openxmlformats.org/drawingml/2006/main">
            <a:off x="6896100" y="3105150"/>
            <a:ext cx="285750" cy="19050"/>
          </a:xfrm>
          <a:prstGeom xmlns:a="http://schemas.openxmlformats.org/drawingml/2006/main" prst="rect">
            <a:avLst/>
          </a:prstGeom>
          <a:solidFill xmlns:a="http://schemas.openxmlformats.org/drawingml/2006/main">
            <a:srgbClr val="EDEDED"/>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7AE82E50-F042-4CB1-A7FF-9B61CCA5FC97}"/>
              </a:ext>
            </a:extLst>
          </p:cNvPr>
          <p:cNvSpPr>
            <a:spLocks xmlns:a="http://schemas.openxmlformats.org/drawingml/2006/main" noGrp="1"/>
          </p:cNvSpPr>
          <p:nvPr/>
        </p:nvSpPr>
        <p:spPr>
          <a:xfrm xmlns:a="http://schemas.openxmlformats.org/drawingml/2006/main">
            <a:off x="7162800" y="3067050"/>
            <a:ext cx="133350" cy="95250"/>
          </a:xfrm>
          <a:prstGeom xmlns:a="http://schemas.openxmlformats.org/drawingml/2006/main" prst="triangle">
            <a:avLst/>
          </a:prstGeom>
          <a:solidFill xmlns:a="http://schemas.openxmlformats.org/drawingml/2006/main">
            <a:srgbClr val="EDEDED"/>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FFCC54E0-C1EF-4172-AAC8-E858267246EE}"/>
              </a:ext>
            </a:extLst>
          </p:cNvPr>
          <p:cNvSpPr>
            <a:spLocks xmlns:a="http://schemas.openxmlformats.org/drawingml/2006/main" noGrp="1"/>
          </p:cNvSpPr>
          <p:nvPr/>
        </p:nvSpPr>
        <p:spPr>
          <a:xfrm xmlns:a="http://schemas.openxmlformats.org/drawingml/2006/main">
            <a:off x="7296150" y="2305050"/>
            <a:ext cx="1733550" cy="1676400"/>
          </a:xfrm>
          <a:prstGeom xmlns:a="http://schemas.openxmlformats.org/drawingml/2006/main" prst="roundRect">
            <a:avLst>
              <a:gd name="adj" fmla="val 4545"/>
            </a:avLst>
          </a:prstGeom>
          <a:solidFill xmlns:a="http://schemas.openxmlformats.org/drawingml/2006/main">
            <a:srgbClr val="F3F3F3"/>
          </a:solidFill>
          <a:ln xmlns:a="http://schemas.openxmlformats.org/drawingml/2006/main" w="9525">
            <a:solidFill>
              <a:srgbClr val="282828"/>
            </a:solidFill>
          </a:ln>
        </p:spPr>
      </p:sp>
      <p:sp>
        <p:nvSpPr>
          <p:cNvPr id="22" name="">
            <a:extLst xmlns:a="http://schemas.openxmlformats.org/drawingml/2006/main">
              <a:ext uri="{FF2B5EF4-FFF2-40B4-BE49-F238E27FC236}">
                <a16:creationId xmlns:a16="http://schemas.microsoft.com/office/drawing/2014/main" id="{9AF81413-0233-4A8F-B8B7-D4D6D04072B6}"/>
              </a:ext>
            </a:extLst>
          </p:cNvPr>
          <p:cNvSpPr>
            <a:spLocks xmlns:a="http://schemas.openxmlformats.org/drawingml/2006/main" noGrp="1"/>
          </p:cNvSpPr>
          <p:nvPr/>
        </p:nvSpPr>
        <p:spPr>
          <a:xfrm xmlns:a="http://schemas.openxmlformats.org/drawingml/2006/main">
            <a:off x="7467600" y="2552700"/>
            <a:ext cx="1390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125" b="1">
                <a:solidFill>
                  <a:srgbClr val="282828"/>
                </a:solidFill>
                <a:latin typeface="Inter"/>
                <a:ea typeface="Inter"/>
                <a:cs typeface="Inter"/>
              </a:rPr>
              <a:t>Assumption diff</a:t>
            </a:r>
          </a:p>
        </p:txBody>
      </p:sp>
      <p:sp>
        <p:nvSpPr>
          <p:cNvPr id="23" name="">
            <a:extLst xmlns:a="http://schemas.openxmlformats.org/drawingml/2006/main">
              <a:ext uri="{FF2B5EF4-FFF2-40B4-BE49-F238E27FC236}">
                <a16:creationId xmlns:a16="http://schemas.microsoft.com/office/drawing/2014/main" id="{9F1C4399-66A6-4465-9EC0-60F3F72DD064}"/>
              </a:ext>
            </a:extLst>
          </p:cNvPr>
          <p:cNvSpPr>
            <a:spLocks xmlns:a="http://schemas.openxmlformats.org/drawingml/2006/main" noGrp="1"/>
          </p:cNvSpPr>
          <p:nvPr/>
        </p:nvSpPr>
        <p:spPr>
          <a:xfrm xmlns:a="http://schemas.openxmlformats.org/drawingml/2006/main">
            <a:off x="7467600" y="2933700"/>
            <a:ext cx="13906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350">
                <a:solidFill>
                  <a:srgbClr val="181818"/>
                </a:solidFill>
                <a:latin typeface="Inter"/>
                <a:ea typeface="Inter"/>
                <a:cs typeface="Inter"/>
              </a:rPr>
              <a:t>objective mismatch</a:t>
            </a:r>
          </a:p>
          <a:p xmlns:a="http://schemas.openxmlformats.org/drawingml/2006/main">
            <a:r>
              <a:rPr sz="1350">
                <a:solidFill>
                  <a:srgbClr val="181818"/>
                </a:solidFill>
                <a:latin typeface="Inter"/>
                <a:ea typeface="Inter"/>
                <a:cs typeface="Inter"/>
              </a:rPr>
              <a:t>+ role-mix crux</a:t>
            </a:r>
          </a:p>
        </p:txBody>
      </p:sp>
      <p:sp>
        <p:nvSpPr>
          <p:cNvPr id="24" name="">
            <a:extLst xmlns:a="http://schemas.openxmlformats.org/drawingml/2006/main">
              <a:ext uri="{FF2B5EF4-FFF2-40B4-BE49-F238E27FC236}">
                <a16:creationId xmlns:a16="http://schemas.microsoft.com/office/drawing/2014/main" id="{248B36B1-5D7E-4970-9CE0-20DE6A7F16F5}"/>
              </a:ext>
            </a:extLst>
          </p:cNvPr>
          <p:cNvSpPr>
            <a:spLocks xmlns:a="http://schemas.openxmlformats.org/drawingml/2006/main" noGrp="1"/>
          </p:cNvSpPr>
          <p:nvPr/>
        </p:nvSpPr>
        <p:spPr>
          <a:xfrm xmlns:a="http://schemas.openxmlformats.org/drawingml/2006/main">
            <a:off x="9105900" y="3105150"/>
            <a:ext cx="285750" cy="19050"/>
          </a:xfrm>
          <a:prstGeom xmlns:a="http://schemas.openxmlformats.org/drawingml/2006/main" prst="rect">
            <a:avLst/>
          </a:prstGeom>
          <a:solidFill xmlns:a="http://schemas.openxmlformats.org/drawingml/2006/main">
            <a:srgbClr val="EDEDED"/>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5F7814D6-AEAE-4B12-B1EC-3767C8DB8E88}"/>
              </a:ext>
            </a:extLst>
          </p:cNvPr>
          <p:cNvSpPr>
            <a:spLocks xmlns:a="http://schemas.openxmlformats.org/drawingml/2006/main" noGrp="1"/>
          </p:cNvSpPr>
          <p:nvPr/>
        </p:nvSpPr>
        <p:spPr>
          <a:xfrm xmlns:a="http://schemas.openxmlformats.org/drawingml/2006/main">
            <a:off x="9372600" y="3067050"/>
            <a:ext cx="133350" cy="95250"/>
          </a:xfrm>
          <a:prstGeom xmlns:a="http://schemas.openxmlformats.org/drawingml/2006/main" prst="triangle">
            <a:avLst/>
          </a:prstGeom>
          <a:solidFill xmlns:a="http://schemas.openxmlformats.org/drawingml/2006/main">
            <a:srgbClr val="EDEDED"/>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17BD1FC6-1333-4719-A385-C9972F74D8CA}"/>
              </a:ext>
            </a:extLst>
          </p:cNvPr>
          <p:cNvSpPr>
            <a:spLocks xmlns:a="http://schemas.openxmlformats.org/drawingml/2006/main" noGrp="1"/>
          </p:cNvSpPr>
          <p:nvPr/>
        </p:nvSpPr>
        <p:spPr>
          <a:xfrm xmlns:a="http://schemas.openxmlformats.org/drawingml/2006/main">
            <a:off x="9505950" y="2305050"/>
            <a:ext cx="1733550" cy="1676400"/>
          </a:xfrm>
          <a:prstGeom xmlns:a="http://schemas.openxmlformats.org/drawingml/2006/main" prst="roundRect">
            <a:avLst>
              <a:gd name="adj" fmla="val 4545"/>
            </a:avLst>
          </a:prstGeom>
          <a:solidFill xmlns:a="http://schemas.openxmlformats.org/drawingml/2006/main">
            <a:srgbClr val="FFFFFF"/>
          </a:solidFill>
          <a:ln xmlns:a="http://schemas.openxmlformats.org/drawingml/2006/main" w="9525">
            <a:solidFill>
              <a:srgbClr val="EDEDED"/>
            </a:solidFill>
          </a:ln>
        </p:spPr>
      </p:sp>
      <p:sp>
        <p:nvSpPr>
          <p:cNvPr id="27" name="">
            <a:extLst xmlns:a="http://schemas.openxmlformats.org/drawingml/2006/main">
              <a:ext uri="{FF2B5EF4-FFF2-40B4-BE49-F238E27FC236}">
                <a16:creationId xmlns:a16="http://schemas.microsoft.com/office/drawing/2014/main" id="{FBCC18B8-544A-4AFD-BFD0-D2777D832677}"/>
              </a:ext>
            </a:extLst>
          </p:cNvPr>
          <p:cNvSpPr>
            <a:spLocks xmlns:a="http://schemas.openxmlformats.org/drawingml/2006/main" noGrp="1"/>
          </p:cNvSpPr>
          <p:nvPr/>
        </p:nvSpPr>
        <p:spPr>
          <a:xfrm xmlns:a="http://schemas.openxmlformats.org/drawingml/2006/main">
            <a:off x="9677400" y="2552700"/>
            <a:ext cx="1390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125" b="1">
                <a:solidFill>
                  <a:srgbClr val="282828"/>
                </a:solidFill>
                <a:latin typeface="Inter"/>
                <a:ea typeface="Inter"/>
                <a:cs typeface="Inter"/>
              </a:rPr>
              <a:t>Block Kit brief</a:t>
            </a:r>
          </a:p>
        </p:txBody>
      </p:sp>
      <p:sp>
        <p:nvSpPr>
          <p:cNvPr id="28" name="">
            <a:extLst xmlns:a="http://schemas.openxmlformats.org/drawingml/2006/main">
              <a:ext uri="{FF2B5EF4-FFF2-40B4-BE49-F238E27FC236}">
                <a16:creationId xmlns:a16="http://schemas.microsoft.com/office/drawing/2014/main" id="{722642FD-16F1-4DBE-90EC-EDDCF2A8D4A1}"/>
              </a:ext>
            </a:extLst>
          </p:cNvPr>
          <p:cNvSpPr>
            <a:spLocks xmlns:a="http://schemas.openxmlformats.org/drawingml/2006/main" noGrp="1"/>
          </p:cNvSpPr>
          <p:nvPr/>
        </p:nvSpPr>
        <p:spPr>
          <a:xfrm xmlns:a="http://schemas.openxmlformats.org/drawingml/2006/main">
            <a:off x="9677400" y="2933700"/>
            <a:ext cx="13906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350">
                <a:solidFill>
                  <a:srgbClr val="181818"/>
                </a:solidFill>
                <a:latin typeface="Inter"/>
                <a:ea typeface="Inter"/>
                <a:cs typeface="Inter"/>
              </a:rPr>
              <a:t>9 -&gt; 2 agenda,</a:t>
            </a:r>
          </a:p>
          <a:p xmlns:a="http://schemas.openxmlformats.org/drawingml/2006/main">
            <a:r>
              <a:rPr sz="1350">
                <a:solidFill>
                  <a:srgbClr val="181818"/>
                </a:solidFill>
                <a:latin typeface="Inter"/>
                <a:ea typeface="Inter"/>
                <a:cs typeface="Inter"/>
              </a:rPr>
              <a:t>provenance, actions</a:t>
            </a:r>
          </a:p>
        </p:txBody>
      </p:sp>
      <p:sp>
        <p:nvSpPr>
          <p:cNvPr id="29" name="">
            <a:extLst xmlns:a="http://schemas.openxmlformats.org/drawingml/2006/main">
              <a:ext uri="{FF2B5EF4-FFF2-40B4-BE49-F238E27FC236}">
                <a16:creationId xmlns:a16="http://schemas.microsoft.com/office/drawing/2014/main" id="{4FFDB390-6432-4D38-8508-4BC9188F498E}"/>
              </a:ext>
            </a:extLst>
          </p:cNvPr>
          <p:cNvSpPr>
            <a:spLocks xmlns:a="http://schemas.openxmlformats.org/drawingml/2006/main" noGrp="1"/>
          </p:cNvSpPr>
          <p:nvPr/>
        </p:nvSpPr>
        <p:spPr>
          <a:xfrm xmlns:a="http://schemas.openxmlformats.org/drawingml/2006/main">
            <a:off x="838200" y="4876800"/>
            <a:ext cx="8858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650">
                <a:solidFill>
                  <a:srgbClr val="181818"/>
                </a:solidFill>
                <a:latin typeface="Inter"/>
                <a:ea typeface="Inter"/>
                <a:cs typeface="Inter"/>
              </a:rPr>
              <a:t>Mochi compresses what needs discussion. John Taylor still owns the creator-mix decision with logged dissents.</a:t>
            </a:r>
          </a:p>
        </p:txBody>
      </p:sp>
    </p:spTree>
    <p:extLst>
      <p:ext uri="{BB962C8B-B14F-4D97-AF65-F5344CB8AC3E}">
        <p14:creationId xmlns:p14="http://schemas.microsoft.com/office/powerpoint/2010/main" val="137575958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 name=""/>
          <p:cNvPicPr>
            <a:picLocks xmlns:a="http://schemas.openxmlformats.org/drawingml/2006/main" noChangeAspect="1"/>
          </p:cNvPicPr>
          <p:nvPr/>
        </p:nvPicPr>
        <p:blipFill>
          <a:blip xmlns:r="http://schemas.openxmlformats.org/officeDocument/2006/relationships" xmlns:a="http://schemas.openxmlformats.org/drawingml/2006/main" r:embed="R5685f96ce99847d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27D26AF-C40B-4115-AE80-BD1DE61367E9}"/>
              </a:ext>
            </a:extLst>
          </p:cNvPr>
          <p:cNvSpPr>
            <a:spLocks xmlns:a="http://schemas.openxmlformats.org/drawingml/2006/main" noGrp="1"/>
          </p:cNvSpPr>
          <p:nvPr/>
        </p:nvSpPr>
        <p:spPr>
          <a:xfrm xmlns:a="http://schemas.openxmlformats.org/drawingml/2006/main">
            <a:off x="685800" y="4191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19050" rIns="0" bIns="0">
            <a:noAutofit/>
          </a:bodyPr>
          <a:lstStyle xmlns:a="http://schemas.openxmlformats.org/drawingml/2006/main"/>
          <a:p xmlns:a="http://schemas.openxmlformats.org/drawingml/2006/main">
            <a:r>
              <a:rPr sz="975" b="1">
                <a:solidFill>
                  <a:srgbClr val="5D605E"/>
                </a:solidFill>
                <a:latin typeface="Inter"/>
                <a:ea typeface="Inter"/>
                <a:cs typeface="Inter"/>
              </a:rPr>
              <a:t>WEDGE</a:t>
            </a:r>
          </a:p>
        </p:txBody>
      </p:sp>
      <p:sp>
        <p:nvSpPr>
          <p:cNvPr id="3" name="">
            <a:extLst xmlns:a="http://schemas.openxmlformats.org/drawingml/2006/main">
              <a:ext uri="{FF2B5EF4-FFF2-40B4-BE49-F238E27FC236}">
                <a16:creationId xmlns:a16="http://schemas.microsoft.com/office/drawing/2014/main" id="{F43D13FD-3A42-4E67-AB31-92A8882E8142}"/>
              </a:ext>
            </a:extLst>
          </p:cNvPr>
          <p:cNvSpPr>
            <a:spLocks xmlns:a="http://schemas.openxmlformats.org/drawingml/2006/main" noGrp="1"/>
          </p:cNvSpPr>
          <p:nvPr/>
        </p:nvSpPr>
        <p:spPr>
          <a:xfrm xmlns:a="http://schemas.openxmlformats.org/drawingml/2006/main">
            <a:off x="666750" y="723900"/>
            <a:ext cx="8763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3000">
                <a:solidFill>
                  <a:srgbClr val="181818"/>
                </a:solidFill>
                <a:latin typeface="Inter"/>
                <a:ea typeface="Inter"/>
                <a:cs typeface="Inter"/>
              </a:rPr>
              <a:t>Position-only classification misses</a:t>
            </a:r>
          </a:p>
          <a:p xmlns:a="http://schemas.openxmlformats.org/drawingml/2006/main">
            <a:r>
              <a:rPr sz="3000">
                <a:solidFill>
                  <a:srgbClr val="181818"/>
                </a:solidFill>
                <a:latin typeface="Inter"/>
                <a:ea typeface="Inter"/>
                <a:cs typeface="Inter"/>
              </a:rPr>
              <a:t>the dangerous case.</a:t>
            </a:r>
          </a:p>
        </p:txBody>
      </p:sp>
      <p:sp>
        <p:nvSpPr>
          <p:cNvPr id="4" name="">
            <a:extLst xmlns:a="http://schemas.openxmlformats.org/drawingml/2006/main">
              <a:ext uri="{FF2B5EF4-FFF2-40B4-BE49-F238E27FC236}">
                <a16:creationId xmlns:a16="http://schemas.microsoft.com/office/drawing/2014/main" id="{19F62702-37E8-4EB3-83DB-93709872494A}"/>
              </a:ext>
            </a:extLst>
          </p:cNvPr>
          <p:cNvSpPr>
            <a:spLocks xmlns:a="http://schemas.openxmlformats.org/drawingml/2006/main" noGrp="1"/>
          </p:cNvSpPr>
          <p:nvPr/>
        </p:nvSpPr>
        <p:spPr>
          <a:xfrm xmlns:a="http://schemas.openxmlformats.org/drawingml/2006/main">
            <a:off x="685800" y="6515100"/>
            <a:ext cx="723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750">
                <a:solidFill>
                  <a:srgbClr val="5D605E"/>
                </a:solidFill>
                <a:latin typeface="Inter"/>
                <a:ea typeface="Inter"/>
                <a:cs typeface="Inter"/>
              </a:rPr>
              <a:t>Sources: docs/design-spec.md, docs/pitch-script.md</a:t>
            </a:r>
          </a:p>
        </p:txBody>
      </p:sp>
      <p:sp>
        <p:nvSpPr>
          <p:cNvPr id="5" name="">
            <a:extLst xmlns:a="http://schemas.openxmlformats.org/drawingml/2006/main">
              <a:ext uri="{FF2B5EF4-FFF2-40B4-BE49-F238E27FC236}">
                <a16:creationId xmlns:a16="http://schemas.microsoft.com/office/drawing/2014/main" id="{621664F5-3AF9-4FDA-BD9F-F08BF3170584}"/>
              </a:ext>
            </a:extLst>
          </p:cNvPr>
          <p:cNvSpPr>
            <a:spLocks xmlns:a="http://schemas.openxmlformats.org/drawingml/2006/main" noGrp="1"/>
          </p:cNvSpPr>
          <p:nvPr/>
        </p:nvSpPr>
        <p:spPr>
          <a:xfrm xmlns:a="http://schemas.openxmlformats.org/drawingml/2006/main">
            <a:off x="11239500" y="6515100"/>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750">
                <a:solidFill>
                  <a:srgbClr val="5D605E"/>
                </a:solidFill>
                <a:latin typeface="Inter"/>
                <a:ea typeface="Inter"/>
                <a:cs typeface="Inter"/>
              </a:defRPr>
            </a:pPr>
            <a:r>
              <a:rPr sz="750">
                <a:solidFill>
                  <a:srgbClr val="5D605E"/>
                </a:solidFill>
                <a:latin typeface="Inter"/>
                <a:ea typeface="Inter"/>
                <a:cs typeface="Inter"/>
              </a:rPr>
              <a:t>04</a:t>
            </a:r>
          </a:p>
        </p:txBody>
      </p:sp>
      <p:sp>
        <p:nvSpPr>
          <p:cNvPr id="6" name="">
            <a:extLst xmlns:a="http://schemas.openxmlformats.org/drawingml/2006/main">
              <a:ext uri="{FF2B5EF4-FFF2-40B4-BE49-F238E27FC236}">
                <a16:creationId xmlns:a16="http://schemas.microsoft.com/office/drawing/2014/main" id="{E3B21232-67B0-4D40-9AE5-06A963CC6FD0}"/>
              </a:ext>
            </a:extLst>
          </p:cNvPr>
          <p:cNvSpPr>
            <a:spLocks xmlns:a="http://schemas.openxmlformats.org/drawingml/2006/main" noGrp="1"/>
          </p:cNvSpPr>
          <p:nvPr/>
        </p:nvSpPr>
        <p:spPr>
          <a:xfrm xmlns:a="http://schemas.openxmlformats.org/drawingml/2006/main">
            <a:off x="876300" y="2114550"/>
            <a:ext cx="4095750" cy="2495550"/>
          </a:xfrm>
          <a:prstGeom xmlns:a="http://schemas.openxmlformats.org/drawingml/2006/main" prst="roundRect">
            <a:avLst>
              <a:gd name="adj" fmla="val 3053"/>
            </a:avLst>
          </a:prstGeom>
          <a:solidFill xmlns:a="http://schemas.openxmlformats.org/drawingml/2006/main">
            <a:srgbClr val="FFFFFF"/>
          </a:solidFill>
          <a:ln xmlns:a="http://schemas.openxmlformats.org/drawingml/2006/main" w="9525">
            <a:solidFill>
              <a:srgbClr val="EDEDED"/>
            </a:solidFill>
          </a:ln>
        </p:spPr>
      </p:sp>
      <p:sp>
        <p:nvSpPr>
          <p:cNvPr id="7" name="">
            <a:extLst xmlns:a="http://schemas.openxmlformats.org/drawingml/2006/main">
              <a:ext uri="{FF2B5EF4-FFF2-40B4-BE49-F238E27FC236}">
                <a16:creationId xmlns:a16="http://schemas.microsoft.com/office/drawing/2014/main" id="{76EC590A-F379-430D-90F6-18DB929029AE}"/>
              </a:ext>
            </a:extLst>
          </p:cNvPr>
          <p:cNvSpPr>
            <a:spLocks xmlns:a="http://schemas.openxmlformats.org/drawingml/2006/main" noGrp="1"/>
          </p:cNvSpPr>
          <p:nvPr/>
        </p:nvSpPr>
        <p:spPr>
          <a:xfrm xmlns:a="http://schemas.openxmlformats.org/drawingml/2006/main">
            <a:off x="1181100" y="2400300"/>
            <a:ext cx="2476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350" b="1">
                <a:solidFill>
                  <a:srgbClr val="181818"/>
                </a:solidFill>
                <a:latin typeface="Inter"/>
                <a:ea typeface="Inter"/>
                <a:cs typeface="Inter"/>
              </a:rPr>
              <a:t>Naive baseline</a:t>
            </a:r>
          </a:p>
        </p:txBody>
      </p:sp>
      <p:sp>
        <p:nvSpPr>
          <p:cNvPr id="8" name="">
            <a:extLst xmlns:a="http://schemas.openxmlformats.org/drawingml/2006/main">
              <a:ext uri="{FF2B5EF4-FFF2-40B4-BE49-F238E27FC236}">
                <a16:creationId xmlns:a16="http://schemas.microsoft.com/office/drawing/2014/main" id="{27AFF37E-00BA-46FE-87AB-946400352265}"/>
              </a:ext>
            </a:extLst>
          </p:cNvPr>
          <p:cNvSpPr>
            <a:spLocks xmlns:a="http://schemas.openxmlformats.org/drawingml/2006/main" noGrp="1"/>
          </p:cNvSpPr>
          <p:nvPr/>
        </p:nvSpPr>
        <p:spPr>
          <a:xfrm xmlns:a="http://schemas.openxmlformats.org/drawingml/2006/main">
            <a:off x="1181100" y="2952750"/>
            <a:ext cx="6667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825" b="1">
                <a:solidFill>
                  <a:srgbClr val="5D605E"/>
                </a:solidFill>
                <a:latin typeface="Inter"/>
                <a:ea typeface="Inter"/>
                <a:cs typeface="Inter"/>
              </a:rPr>
              <a:t>Input</a:t>
            </a:r>
          </a:p>
        </p:txBody>
      </p:sp>
      <p:sp>
        <p:nvSpPr>
          <p:cNvPr id="9" name="">
            <a:extLst xmlns:a="http://schemas.openxmlformats.org/drawingml/2006/main">
              <a:ext uri="{FF2B5EF4-FFF2-40B4-BE49-F238E27FC236}">
                <a16:creationId xmlns:a16="http://schemas.microsoft.com/office/drawing/2014/main" id="{29B66CC9-9514-4323-8D24-218B5547E842}"/>
              </a:ext>
            </a:extLst>
          </p:cNvPr>
          <p:cNvSpPr>
            <a:spLocks xmlns:a="http://schemas.openxmlformats.org/drawingml/2006/main" noGrp="1"/>
          </p:cNvSpPr>
          <p:nvPr/>
        </p:nvSpPr>
        <p:spPr>
          <a:xfrm xmlns:a="http://schemas.openxmlformats.org/drawingml/2006/main">
            <a:off x="1181100" y="3162300"/>
            <a:ext cx="304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650">
                <a:solidFill>
                  <a:srgbClr val="181818"/>
                </a:solidFill>
                <a:latin typeface="Inter"/>
                <a:ea typeface="Inter"/>
                <a:cs typeface="Inter"/>
              </a:rPr>
              <a:t>Everyone supports reaching younger shoppers.</a:t>
            </a:r>
          </a:p>
        </p:txBody>
      </p:sp>
      <p:sp>
        <p:nvSpPr>
          <p:cNvPr id="10" name="">
            <a:extLst xmlns:a="http://schemas.openxmlformats.org/drawingml/2006/main">
              <a:ext uri="{FF2B5EF4-FFF2-40B4-BE49-F238E27FC236}">
                <a16:creationId xmlns:a16="http://schemas.microsoft.com/office/drawing/2014/main" id="{234EA946-DA7F-4DD5-9468-C904B0D52A43}"/>
              </a:ext>
            </a:extLst>
          </p:cNvPr>
          <p:cNvSpPr>
            <a:spLocks xmlns:a="http://schemas.openxmlformats.org/drawingml/2006/main" noGrp="1"/>
          </p:cNvSpPr>
          <p:nvPr/>
        </p:nvSpPr>
        <p:spPr>
          <a:xfrm xmlns:a="http://schemas.openxmlformats.org/drawingml/2006/main">
            <a:off x="1181100" y="3810000"/>
            <a:ext cx="762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825" b="1">
                <a:solidFill>
                  <a:srgbClr val="5D605E"/>
                </a:solidFill>
                <a:latin typeface="Inter"/>
                <a:ea typeface="Inter"/>
                <a:cs typeface="Inter"/>
              </a:rPr>
              <a:t>Output</a:t>
            </a:r>
          </a:p>
        </p:txBody>
      </p:sp>
      <p:sp>
        <p:nvSpPr>
          <p:cNvPr id="11" name="">
            <a:extLst xmlns:a="http://schemas.openxmlformats.org/drawingml/2006/main">
              <a:ext uri="{FF2B5EF4-FFF2-40B4-BE49-F238E27FC236}">
                <a16:creationId xmlns:a16="http://schemas.microsoft.com/office/drawing/2014/main" id="{3473197D-DA83-4004-B45C-AB2E9AF86C95}"/>
              </a:ext>
            </a:extLst>
          </p:cNvPr>
          <p:cNvSpPr>
            <a:spLocks xmlns:a="http://schemas.openxmlformats.org/drawingml/2006/main" noGrp="1"/>
          </p:cNvSpPr>
          <p:nvPr/>
        </p:nvSpPr>
        <p:spPr>
          <a:xfrm xmlns:a="http://schemas.openxmlformats.org/drawingml/2006/main">
            <a:off x="1181100" y="4057650"/>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2025" b="1">
                <a:solidFill>
                  <a:srgbClr val="282828"/>
                </a:solidFill>
                <a:latin typeface="Inter"/>
                <a:ea typeface="Inter"/>
                <a:cs typeface="Inter"/>
              </a:rPr>
              <a:t>AGREED</a:t>
            </a:r>
          </a:p>
        </p:txBody>
      </p:sp>
      <p:sp>
        <p:nvSpPr>
          <p:cNvPr id="12" name="">
            <a:extLst xmlns:a="http://schemas.openxmlformats.org/drawingml/2006/main">
              <a:ext uri="{FF2B5EF4-FFF2-40B4-BE49-F238E27FC236}">
                <a16:creationId xmlns:a16="http://schemas.microsoft.com/office/drawing/2014/main" id="{BDDF9424-54BC-4883-9975-E81C48C4D6BF}"/>
              </a:ext>
            </a:extLst>
          </p:cNvPr>
          <p:cNvSpPr>
            <a:spLocks xmlns:a="http://schemas.openxmlformats.org/drawingml/2006/main" noGrp="1"/>
          </p:cNvSpPr>
          <p:nvPr/>
        </p:nvSpPr>
        <p:spPr>
          <a:xfrm xmlns:a="http://schemas.openxmlformats.org/drawingml/2006/main">
            <a:off x="5257800" y="3333750"/>
            <a:ext cx="647700" cy="19050"/>
          </a:xfrm>
          <a:prstGeom xmlns:a="http://schemas.openxmlformats.org/drawingml/2006/main" prst="rect">
            <a:avLst/>
          </a:prstGeom>
          <a:solidFill xmlns:a="http://schemas.openxmlformats.org/drawingml/2006/main">
            <a:srgbClr val="EDEDED"/>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B9FE5A0-0A99-413D-A44F-5F9045E40856}"/>
              </a:ext>
            </a:extLst>
          </p:cNvPr>
          <p:cNvSpPr>
            <a:spLocks xmlns:a="http://schemas.openxmlformats.org/drawingml/2006/main" noGrp="1"/>
          </p:cNvSpPr>
          <p:nvPr/>
        </p:nvSpPr>
        <p:spPr>
          <a:xfrm xmlns:a="http://schemas.openxmlformats.org/drawingml/2006/main">
            <a:off x="5886450" y="3295650"/>
            <a:ext cx="133350" cy="95250"/>
          </a:xfrm>
          <a:prstGeom xmlns:a="http://schemas.openxmlformats.org/drawingml/2006/main" prst="triangle">
            <a:avLst/>
          </a:prstGeom>
          <a:solidFill xmlns:a="http://schemas.openxmlformats.org/drawingml/2006/main">
            <a:srgbClr val="EDEDED"/>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56407A6-219D-455E-ABE5-5A488B849FD0}"/>
              </a:ext>
            </a:extLst>
          </p:cNvPr>
          <p:cNvSpPr>
            <a:spLocks xmlns:a="http://schemas.openxmlformats.org/drawingml/2006/main" noGrp="1"/>
          </p:cNvSpPr>
          <p:nvPr/>
        </p:nvSpPr>
        <p:spPr>
          <a:xfrm xmlns:a="http://schemas.openxmlformats.org/drawingml/2006/main">
            <a:off x="6286500" y="2114550"/>
            <a:ext cx="4419600" cy="2495550"/>
          </a:xfrm>
          <a:prstGeom xmlns:a="http://schemas.openxmlformats.org/drawingml/2006/main" prst="roundRect">
            <a:avLst>
              <a:gd name="adj" fmla="val 3053"/>
            </a:avLst>
          </a:prstGeom>
          <a:solidFill xmlns:a="http://schemas.openxmlformats.org/drawingml/2006/main">
            <a:srgbClr val="F9F9F9"/>
          </a:solidFill>
          <a:ln xmlns:a="http://schemas.openxmlformats.org/drawingml/2006/main" w="9525">
            <a:solidFill>
              <a:srgbClr val="282828"/>
            </a:solidFill>
          </a:ln>
        </p:spPr>
      </p:sp>
      <p:sp>
        <p:nvSpPr>
          <p:cNvPr id="15" name="">
            <a:extLst xmlns:a="http://schemas.openxmlformats.org/drawingml/2006/main">
              <a:ext uri="{FF2B5EF4-FFF2-40B4-BE49-F238E27FC236}">
                <a16:creationId xmlns:a16="http://schemas.microsoft.com/office/drawing/2014/main" id="{732E7089-B65F-4701-8249-815A6A3637F2}"/>
              </a:ext>
            </a:extLst>
          </p:cNvPr>
          <p:cNvSpPr>
            <a:spLocks xmlns:a="http://schemas.openxmlformats.org/drawingml/2006/main" noGrp="1"/>
          </p:cNvSpPr>
          <p:nvPr/>
        </p:nvSpPr>
        <p:spPr>
          <a:xfrm xmlns:a="http://schemas.openxmlformats.org/drawingml/2006/main">
            <a:off x="6591300" y="2400300"/>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350" b="1">
                <a:solidFill>
                  <a:srgbClr val="282828"/>
                </a:solidFill>
                <a:latin typeface="Inter"/>
                <a:ea typeface="Inter"/>
                <a:cs typeface="Inter"/>
              </a:rPr>
              <a:t>Assumption-aware classifier</a:t>
            </a:r>
          </a:p>
        </p:txBody>
      </p:sp>
      <p:sp>
        <p:nvSpPr>
          <p:cNvPr id="16" name="">
            <a:extLst xmlns:a="http://schemas.openxmlformats.org/drawingml/2006/main">
              <a:ext uri="{FF2B5EF4-FFF2-40B4-BE49-F238E27FC236}">
                <a16:creationId xmlns:a16="http://schemas.microsoft.com/office/drawing/2014/main" id="{4D218BFE-6DEE-492E-9FCB-5E73A710BBC4}"/>
              </a:ext>
            </a:extLst>
          </p:cNvPr>
          <p:cNvSpPr>
            <a:spLocks xmlns:a="http://schemas.openxmlformats.org/drawingml/2006/main" noGrp="1"/>
          </p:cNvSpPr>
          <p:nvPr/>
        </p:nvSpPr>
        <p:spPr>
          <a:xfrm xmlns:a="http://schemas.openxmlformats.org/drawingml/2006/main">
            <a:off x="6591300" y="2952750"/>
            <a:ext cx="6667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825" b="1">
                <a:solidFill>
                  <a:srgbClr val="5D605E"/>
                </a:solidFill>
                <a:latin typeface="Inter"/>
                <a:ea typeface="Inter"/>
                <a:cs typeface="Inter"/>
              </a:rPr>
              <a:t>Input</a:t>
            </a:r>
          </a:p>
        </p:txBody>
      </p:sp>
      <p:sp>
        <p:nvSpPr>
          <p:cNvPr id="17" name="">
            <a:extLst xmlns:a="http://schemas.openxmlformats.org/drawingml/2006/main">
              <a:ext uri="{FF2B5EF4-FFF2-40B4-BE49-F238E27FC236}">
                <a16:creationId xmlns:a16="http://schemas.microsoft.com/office/drawing/2014/main" id="{1EC5BFE6-850C-4E91-BBC2-0E80AB50EC46}"/>
              </a:ext>
            </a:extLst>
          </p:cNvPr>
          <p:cNvSpPr>
            <a:spLocks xmlns:a="http://schemas.openxmlformats.org/drawingml/2006/main" noGrp="1"/>
          </p:cNvSpPr>
          <p:nvPr/>
        </p:nvSpPr>
        <p:spPr>
          <a:xfrm xmlns:a="http://schemas.openxmlformats.org/drawingml/2006/main">
            <a:off x="6591300" y="3124200"/>
            <a:ext cx="32575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500">
                <a:solidFill>
                  <a:srgbClr val="181818"/>
                </a:solidFill>
                <a:latin typeface="Inter"/>
                <a:ea typeface="Inter"/>
                <a:cs typeface="Inter"/>
              </a:rPr>
              <a:t>Growth: app installs</a:t>
            </a:r>
          </a:p>
          <a:p xmlns:a="http://schemas.openxmlformats.org/drawingml/2006/main">
            <a:r>
              <a:rPr sz="1500">
                <a:solidFill>
                  <a:srgbClr val="181818"/>
                </a:solidFill>
                <a:latin typeface="Inter"/>
                <a:ea typeface="Inter"/>
                <a:cs typeface="Inter"/>
              </a:rPr>
              <a:t>Commerce: GMV</a:t>
            </a:r>
          </a:p>
          <a:p xmlns:a="http://schemas.openxmlformats.org/drawingml/2006/main">
            <a:r>
              <a:rPr sz="1500">
                <a:solidFill>
                  <a:srgbClr val="181818"/>
                </a:solidFill>
                <a:latin typeface="Inter"/>
                <a:ea typeface="Inter"/>
                <a:cs typeface="Inter"/>
              </a:rPr>
              <a:t>Lead: safe youth reach</a:t>
            </a:r>
          </a:p>
        </p:txBody>
      </p:sp>
      <p:sp>
        <p:nvSpPr>
          <p:cNvPr id="18" name="">
            <a:extLst xmlns:a="http://schemas.openxmlformats.org/drawingml/2006/main">
              <a:ext uri="{FF2B5EF4-FFF2-40B4-BE49-F238E27FC236}">
                <a16:creationId xmlns:a16="http://schemas.microsoft.com/office/drawing/2014/main" id="{514BA200-3A12-465F-8F11-BA47BC781D94}"/>
              </a:ext>
            </a:extLst>
          </p:cNvPr>
          <p:cNvSpPr>
            <a:spLocks xmlns:a="http://schemas.openxmlformats.org/drawingml/2006/main" noGrp="1"/>
          </p:cNvSpPr>
          <p:nvPr/>
        </p:nvSpPr>
        <p:spPr>
          <a:xfrm xmlns:a="http://schemas.openxmlformats.org/drawingml/2006/main">
            <a:off x="6591300" y="3924300"/>
            <a:ext cx="762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825" b="1">
                <a:solidFill>
                  <a:srgbClr val="5D605E"/>
                </a:solidFill>
                <a:latin typeface="Inter"/>
                <a:ea typeface="Inter"/>
                <a:cs typeface="Inter"/>
              </a:rPr>
              <a:t>Output</a:t>
            </a:r>
          </a:p>
        </p:txBody>
      </p:sp>
      <p:sp>
        <p:nvSpPr>
          <p:cNvPr id="19" name="">
            <a:extLst xmlns:a="http://schemas.openxmlformats.org/drawingml/2006/main">
              <a:ext uri="{FF2B5EF4-FFF2-40B4-BE49-F238E27FC236}">
                <a16:creationId xmlns:a16="http://schemas.microsoft.com/office/drawing/2014/main" id="{134EC26C-3926-46DB-BC82-2AA18134A4E9}"/>
              </a:ext>
            </a:extLst>
          </p:cNvPr>
          <p:cNvSpPr>
            <a:spLocks xmlns:a="http://schemas.openxmlformats.org/drawingml/2006/main" noGrp="1"/>
          </p:cNvSpPr>
          <p:nvPr/>
        </p:nvSpPr>
        <p:spPr>
          <a:xfrm xmlns:a="http://schemas.openxmlformats.org/drawingml/2006/main">
            <a:off x="6591300" y="4171950"/>
            <a:ext cx="2686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2025" b="1">
                <a:solidFill>
                  <a:srgbClr val="282828"/>
                </a:solidFill>
                <a:latin typeface="Inter"/>
                <a:ea typeface="Inter"/>
                <a:cs typeface="Inter"/>
              </a:rPr>
              <a:t>FAKE AGREEMENT</a:t>
            </a:r>
          </a:p>
        </p:txBody>
      </p:sp>
      <p:sp>
        <p:nvSpPr>
          <p:cNvPr id="20" name="">
            <a:extLst xmlns:a="http://schemas.openxmlformats.org/drawingml/2006/main">
              <a:ext uri="{FF2B5EF4-FFF2-40B4-BE49-F238E27FC236}">
                <a16:creationId xmlns:a16="http://schemas.microsoft.com/office/drawing/2014/main" id="{30BE319D-1B71-419C-974D-227461ABAD77}"/>
              </a:ext>
            </a:extLst>
          </p:cNvPr>
          <p:cNvSpPr>
            <a:spLocks xmlns:a="http://schemas.openxmlformats.org/drawingml/2006/main" noGrp="1"/>
          </p:cNvSpPr>
          <p:nvPr/>
        </p:nvSpPr>
        <p:spPr>
          <a:xfrm xmlns:a="http://schemas.openxmlformats.org/drawingml/2006/main">
            <a:off x="876300" y="4762500"/>
            <a:ext cx="9829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975">
                <a:solidFill>
                  <a:srgbClr val="5D605E"/>
                </a:solidFill>
                <a:latin typeface="Inter"/>
                <a:ea typeface="Inter"/>
                <a:cs typeface="Inter"/>
              </a:rPr>
              <a:t>Both paths shipped and tested — naive_baseline vs classify_item in src/pmle/crux_engine.py</a:t>
            </a:r>
          </a:p>
        </p:txBody>
      </p:sp>
      <p:sp>
        <p:nvSpPr>
          <p:cNvPr id="21" name="">
            <a:extLst xmlns:a="http://schemas.openxmlformats.org/drawingml/2006/main">
              <a:ext uri="{FF2B5EF4-FFF2-40B4-BE49-F238E27FC236}">
                <a16:creationId xmlns:a16="http://schemas.microsoft.com/office/drawing/2014/main" id="{CFF33047-7CEF-4D55-9533-B1ADC0FD65C7}"/>
              </a:ext>
            </a:extLst>
          </p:cNvPr>
          <p:cNvSpPr>
            <a:spLocks xmlns:a="http://schemas.openxmlformats.org/drawingml/2006/main" noGrp="1"/>
          </p:cNvSpPr>
          <p:nvPr/>
        </p:nvSpPr>
        <p:spPr>
          <a:xfrm xmlns:a="http://schemas.openxmlformats.org/drawingml/2006/main">
            <a:off x="1066800" y="5105400"/>
            <a:ext cx="8953500" cy="742950"/>
          </a:xfrm>
          <a:prstGeom xmlns:a="http://schemas.openxmlformats.org/drawingml/2006/main" prst="roundRect">
            <a:avLst>
              <a:gd name="adj" fmla="val 10256"/>
            </a:avLst>
          </a:prstGeom>
          <a:solidFill xmlns:a="http://schemas.openxmlformats.org/drawingml/2006/main">
            <a:srgbClr val="17191A"/>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3A5F8B02-1D63-4EDA-BD47-A21478050238}"/>
              </a:ext>
            </a:extLst>
          </p:cNvPr>
          <p:cNvSpPr>
            <a:spLocks xmlns:a="http://schemas.openxmlformats.org/drawingml/2006/main" noGrp="1"/>
          </p:cNvSpPr>
          <p:nvPr/>
        </p:nvSpPr>
        <p:spPr>
          <a:xfrm xmlns:a="http://schemas.openxmlformats.org/drawingml/2006/main">
            <a:off x="1219200" y="5257800"/>
            <a:ext cx="857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650" b="1">
                <a:solidFill>
                  <a:srgbClr val="FFFFFF"/>
                </a:solidFill>
                <a:latin typeface="Inter"/>
                <a:ea typeface="Inter"/>
                <a:cs typeface="Inter"/>
              </a:rPr>
              <a:t>Judge takeaway: Mochi catches the objective mismatch before the creator decision meeting.</a:t>
            </a:r>
          </a:p>
        </p:txBody>
      </p:sp>
    </p:spTree>
    <p:extLst>
      <p:ext uri="{BB962C8B-B14F-4D97-AF65-F5344CB8AC3E}">
        <p14:creationId xmlns:p14="http://schemas.microsoft.com/office/powerpoint/2010/main" val="19175098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 name=""/>
          <p:cNvPicPr>
            <a:picLocks xmlns:a="http://schemas.openxmlformats.org/drawingml/2006/main" noChangeAspect="1"/>
          </p:cNvPicPr>
          <p:nvPr/>
        </p:nvPicPr>
        <p:blipFill>
          <a:blip xmlns:r="http://schemas.openxmlformats.org/officeDocument/2006/relationships" xmlns:a="http://schemas.openxmlformats.org/drawingml/2006/main" r:embed="R36222a3aec564ee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F82EAB5-A2E8-4DA8-9341-B40EFA283A42}"/>
              </a:ext>
            </a:extLst>
          </p:cNvPr>
          <p:cNvSpPr>
            <a:spLocks xmlns:a="http://schemas.openxmlformats.org/drawingml/2006/main" noGrp="1"/>
          </p:cNvSpPr>
          <p:nvPr/>
        </p:nvSpPr>
        <p:spPr>
          <a:xfrm xmlns:a="http://schemas.openxmlformats.org/drawingml/2006/main">
            <a:off x="685800" y="4191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19050" rIns="0" bIns="0">
            <a:noAutofit/>
          </a:bodyPr>
          <a:lstStyle xmlns:a="http://schemas.openxmlformats.org/drawingml/2006/main"/>
          <a:p xmlns:a="http://schemas.openxmlformats.org/drawingml/2006/main">
            <a:r>
              <a:rPr sz="975" b="1">
                <a:solidFill>
                  <a:srgbClr val="5D605E"/>
                </a:solidFill>
                <a:latin typeface="Inter"/>
                <a:ea typeface="Inter"/>
                <a:cs typeface="Inter"/>
              </a:rPr>
              <a:t>DEMO PROOF</a:t>
            </a:r>
          </a:p>
        </p:txBody>
      </p:sp>
      <p:sp>
        <p:nvSpPr>
          <p:cNvPr id="3" name="">
            <a:extLst xmlns:a="http://schemas.openxmlformats.org/drawingml/2006/main">
              <a:ext uri="{FF2B5EF4-FFF2-40B4-BE49-F238E27FC236}">
                <a16:creationId xmlns:a16="http://schemas.microsoft.com/office/drawing/2014/main" id="{BE6CF71D-D3E0-4409-ABAF-8DB9620EB559}"/>
              </a:ext>
            </a:extLst>
          </p:cNvPr>
          <p:cNvSpPr>
            <a:spLocks xmlns:a="http://schemas.openxmlformats.org/drawingml/2006/main" noGrp="1"/>
          </p:cNvSpPr>
          <p:nvPr/>
        </p:nvSpPr>
        <p:spPr>
          <a:xfrm xmlns:a="http://schemas.openxmlformats.org/drawingml/2006/main">
            <a:off x="666750" y="723900"/>
            <a:ext cx="8763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3000">
                <a:solidFill>
                  <a:srgbClr val="181818"/>
                </a:solidFill>
                <a:latin typeface="Inter"/>
                <a:ea typeface="Inter"/>
                <a:cs typeface="Inter"/>
              </a:rPr>
              <a:t>The room starts with two real decisions.</a:t>
            </a:r>
          </a:p>
        </p:txBody>
      </p:sp>
      <p:sp>
        <p:nvSpPr>
          <p:cNvPr id="4" name="">
            <a:extLst xmlns:a="http://schemas.openxmlformats.org/drawingml/2006/main">
              <a:ext uri="{FF2B5EF4-FFF2-40B4-BE49-F238E27FC236}">
                <a16:creationId xmlns:a16="http://schemas.microsoft.com/office/drawing/2014/main" id="{C2FADCA4-75C4-419C-8B27-05B69BF1688C}"/>
              </a:ext>
            </a:extLst>
          </p:cNvPr>
          <p:cNvSpPr>
            <a:spLocks xmlns:a="http://schemas.openxmlformats.org/drawingml/2006/main" noGrp="1"/>
          </p:cNvSpPr>
          <p:nvPr/>
        </p:nvSpPr>
        <p:spPr>
          <a:xfrm xmlns:a="http://schemas.openxmlformats.org/drawingml/2006/main">
            <a:off x="685800" y="6515100"/>
            <a:ext cx="723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750">
                <a:solidFill>
                  <a:srgbClr val="5D605E"/>
                </a:solidFill>
                <a:latin typeface="Inter"/>
                <a:ea typeface="Inter"/>
                <a:cs typeface="Inter"/>
              </a:rPr>
              <a:t>Sources: docs/pitch-script.md, docs/build-plan.md</a:t>
            </a:r>
          </a:p>
        </p:txBody>
      </p:sp>
      <p:sp>
        <p:nvSpPr>
          <p:cNvPr id="5" name="">
            <a:extLst xmlns:a="http://schemas.openxmlformats.org/drawingml/2006/main">
              <a:ext uri="{FF2B5EF4-FFF2-40B4-BE49-F238E27FC236}">
                <a16:creationId xmlns:a16="http://schemas.microsoft.com/office/drawing/2014/main" id="{A6FA0362-80A9-4F61-B511-F6FD3F5DFAC6}"/>
              </a:ext>
            </a:extLst>
          </p:cNvPr>
          <p:cNvSpPr>
            <a:spLocks xmlns:a="http://schemas.openxmlformats.org/drawingml/2006/main" noGrp="1"/>
          </p:cNvSpPr>
          <p:nvPr/>
        </p:nvSpPr>
        <p:spPr>
          <a:xfrm xmlns:a="http://schemas.openxmlformats.org/drawingml/2006/main">
            <a:off x="11239500" y="6515100"/>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750">
                <a:solidFill>
                  <a:srgbClr val="5D605E"/>
                </a:solidFill>
                <a:latin typeface="Inter"/>
                <a:ea typeface="Inter"/>
                <a:cs typeface="Inter"/>
              </a:defRPr>
            </a:pPr>
            <a:r>
              <a:rPr sz="750">
                <a:solidFill>
                  <a:srgbClr val="5D605E"/>
                </a:solidFill>
                <a:latin typeface="Inter"/>
                <a:ea typeface="Inter"/>
                <a:cs typeface="Inter"/>
              </a:rPr>
              <a:t>05</a:t>
            </a:r>
          </a:p>
        </p:txBody>
      </p:sp>
      <p:sp>
        <p:nvSpPr>
          <p:cNvPr id="6" name="">
            <a:extLst xmlns:a="http://schemas.openxmlformats.org/drawingml/2006/main">
              <a:ext uri="{FF2B5EF4-FFF2-40B4-BE49-F238E27FC236}">
                <a16:creationId xmlns:a16="http://schemas.microsoft.com/office/drawing/2014/main" id="{1567E6F4-653E-4CF3-88EB-5358CDF24D12}"/>
              </a:ext>
            </a:extLst>
          </p:cNvPr>
          <p:cNvSpPr>
            <a:spLocks xmlns:a="http://schemas.openxmlformats.org/drawingml/2006/main" noGrp="1"/>
          </p:cNvSpPr>
          <p:nvPr/>
        </p:nvSpPr>
        <p:spPr>
          <a:xfrm xmlns:a="http://schemas.openxmlformats.org/drawingml/2006/main">
            <a:off x="781050" y="1962150"/>
            <a:ext cx="4267200" cy="3333750"/>
          </a:xfrm>
          <a:prstGeom xmlns:a="http://schemas.openxmlformats.org/drawingml/2006/main" prst="roundRect">
            <a:avLst>
              <a:gd name="adj" fmla="val 2286"/>
            </a:avLst>
          </a:prstGeom>
          <a:solidFill xmlns:a="http://schemas.openxmlformats.org/drawingml/2006/main">
            <a:srgbClr val="FFFFFF"/>
          </a:solidFill>
          <a:ln xmlns:a="http://schemas.openxmlformats.org/drawingml/2006/main" w="9525">
            <a:solidFill>
              <a:srgbClr val="EDEDED"/>
            </a:solidFill>
          </a:ln>
        </p:spPr>
      </p:sp>
      <p:sp>
        <p:nvSpPr>
          <p:cNvPr id="7" name="">
            <a:extLst xmlns:a="http://schemas.openxmlformats.org/drawingml/2006/main">
              <a:ext uri="{FF2B5EF4-FFF2-40B4-BE49-F238E27FC236}">
                <a16:creationId xmlns:a16="http://schemas.microsoft.com/office/drawing/2014/main" id="{28C713BF-DA0F-4515-8C3F-9B3D576CCD8B}"/>
              </a:ext>
            </a:extLst>
          </p:cNvPr>
          <p:cNvSpPr>
            <a:spLocks xmlns:a="http://schemas.openxmlformats.org/drawingml/2006/main" noGrp="1"/>
          </p:cNvSpPr>
          <p:nvPr/>
        </p:nvSpPr>
        <p:spPr>
          <a:xfrm xmlns:a="http://schemas.openxmlformats.org/drawingml/2006/main">
            <a:off x="1047750" y="2133600"/>
            <a:ext cx="3048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050" b="1">
                <a:solidFill>
                  <a:srgbClr val="5D605E"/>
                </a:solidFill>
                <a:latin typeface="Inter"/>
                <a:ea typeface="Inter"/>
                <a:cs typeface="Inter"/>
              </a:rPr>
              <a:t>Mochi pre-meeting digest</a:t>
            </a:r>
          </a:p>
        </p:txBody>
      </p:sp>
      <p:sp>
        <p:nvSpPr>
          <p:cNvPr id="8" name="">
            <a:extLst xmlns:a="http://schemas.openxmlformats.org/drawingml/2006/main">
              <a:ext uri="{FF2B5EF4-FFF2-40B4-BE49-F238E27FC236}">
                <a16:creationId xmlns:a16="http://schemas.microsoft.com/office/drawing/2014/main" id="{66BC07AC-254C-456E-9FFF-A1BD4F5CBCC4}"/>
              </a:ext>
            </a:extLst>
          </p:cNvPr>
          <p:cNvSpPr>
            <a:spLocks xmlns:a="http://schemas.openxmlformats.org/drawingml/2006/main" noGrp="1"/>
          </p:cNvSpPr>
          <p:nvPr/>
        </p:nvSpPr>
        <p:spPr>
          <a:xfrm xmlns:a="http://schemas.openxmlformats.org/drawingml/2006/main">
            <a:off x="1047750" y="2362200"/>
            <a:ext cx="342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975">
                <a:solidFill>
                  <a:srgbClr val="5D605E"/>
                </a:solidFill>
                <a:latin typeface="Inter"/>
                <a:ea typeface="Inter"/>
                <a:cs typeface="Inter"/>
              </a:rPr>
              <a:t>Slack DM · agenda compressed 9 -&gt; 2</a:t>
            </a:r>
          </a:p>
        </p:txBody>
      </p:sp>
      <p:sp>
        <p:nvSpPr>
          <p:cNvPr id="9" name="">
            <a:extLst xmlns:a="http://schemas.openxmlformats.org/drawingml/2006/main">
              <a:ext uri="{FF2B5EF4-FFF2-40B4-BE49-F238E27FC236}">
                <a16:creationId xmlns:a16="http://schemas.microsoft.com/office/drawing/2014/main" id="{B6C5CA12-9A2D-4FF3-A9FE-9122E22DA9EC}"/>
              </a:ext>
            </a:extLst>
          </p:cNvPr>
          <p:cNvSpPr>
            <a:spLocks xmlns:a="http://schemas.openxmlformats.org/drawingml/2006/main" noGrp="1"/>
          </p:cNvSpPr>
          <p:nvPr/>
        </p:nvSpPr>
        <p:spPr>
          <a:xfrm xmlns:a="http://schemas.openxmlformats.org/drawingml/2006/main">
            <a:off x="971550" y="2686050"/>
            <a:ext cx="3886200" cy="762000"/>
          </a:xfrm>
          <a:prstGeom xmlns:a="http://schemas.openxmlformats.org/drawingml/2006/main" prst="roundRect">
            <a:avLst>
              <a:gd name="adj" fmla="val 8750"/>
            </a:avLst>
          </a:prstGeom>
          <a:solidFill xmlns:a="http://schemas.openxmlformats.org/drawingml/2006/main">
            <a:srgbClr val="F3F3F3"/>
          </a:solidFill>
          <a:ln xmlns:a="http://schemas.openxmlformats.org/drawingml/2006/main" w="9525">
            <a:solidFill>
              <a:srgbClr val="282828"/>
            </a:solidFill>
          </a:ln>
        </p:spPr>
      </p:sp>
      <p:sp>
        <p:nvSpPr>
          <p:cNvPr id="10" name="">
            <a:extLst xmlns:a="http://schemas.openxmlformats.org/drawingml/2006/main">
              <a:ext uri="{FF2B5EF4-FFF2-40B4-BE49-F238E27FC236}">
                <a16:creationId xmlns:a16="http://schemas.microsoft.com/office/drawing/2014/main" id="{A9EEEB2B-22F1-423B-AD03-CA716302D9A1}"/>
              </a:ext>
            </a:extLst>
          </p:cNvPr>
          <p:cNvSpPr>
            <a:spLocks xmlns:a="http://schemas.openxmlformats.org/drawingml/2006/main" noGrp="1"/>
          </p:cNvSpPr>
          <p:nvPr/>
        </p:nvSpPr>
        <p:spPr>
          <a:xfrm xmlns:a="http://schemas.openxmlformats.org/drawingml/2006/main">
            <a:off x="1104900" y="2800350"/>
            <a:ext cx="3619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750" b="1">
                <a:solidFill>
                  <a:srgbClr val="282828"/>
                </a:solidFill>
                <a:latin typeface="Inter"/>
                <a:ea typeface="Inter"/>
                <a:cs typeface="Inter"/>
              </a:rPr>
              <a:t>FAKE AGREEMENT</a:t>
            </a:r>
          </a:p>
        </p:txBody>
      </p:sp>
      <p:sp>
        <p:nvSpPr>
          <p:cNvPr id="11" name="">
            <a:extLst xmlns:a="http://schemas.openxmlformats.org/drawingml/2006/main">
              <a:ext uri="{FF2B5EF4-FFF2-40B4-BE49-F238E27FC236}">
                <a16:creationId xmlns:a16="http://schemas.microsoft.com/office/drawing/2014/main" id="{DEAD1696-E4C5-4BCE-BDB6-BD94A1F099A3}"/>
              </a:ext>
            </a:extLst>
          </p:cNvPr>
          <p:cNvSpPr>
            <a:spLocks xmlns:a="http://schemas.openxmlformats.org/drawingml/2006/main" noGrp="1"/>
          </p:cNvSpPr>
          <p:nvPr/>
        </p:nvSpPr>
        <p:spPr>
          <a:xfrm xmlns:a="http://schemas.openxmlformats.org/drawingml/2006/main">
            <a:off x="1104900" y="3009900"/>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1275" b="1">
                <a:solidFill>
                  <a:srgbClr val="181818"/>
                </a:solidFill>
                <a:latin typeface="Inter"/>
                <a:ea typeface="Inter"/>
                <a:cs typeface="Inter"/>
              </a:rPr>
              <a:t>Objective: success criteria differ</a:t>
            </a:r>
          </a:p>
        </p:txBody>
      </p:sp>
      <p:sp>
        <p:nvSpPr>
          <p:cNvPr id="12" name="">
            <a:extLst xmlns:a="http://schemas.openxmlformats.org/drawingml/2006/main">
              <a:ext uri="{FF2B5EF4-FFF2-40B4-BE49-F238E27FC236}">
                <a16:creationId xmlns:a16="http://schemas.microsoft.com/office/drawing/2014/main" id="{BB32DBD1-6E9D-4B8F-81C3-A9575279058B}"/>
              </a:ext>
            </a:extLst>
          </p:cNvPr>
          <p:cNvSpPr>
            <a:spLocks xmlns:a="http://schemas.openxmlformats.org/drawingml/2006/main" noGrp="1"/>
          </p:cNvSpPr>
          <p:nvPr/>
        </p:nvSpPr>
        <p:spPr>
          <a:xfrm xmlns:a="http://schemas.openxmlformats.org/drawingml/2006/main">
            <a:off x="1104900" y="3162300"/>
            <a:ext cx="3619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825">
                <a:solidFill>
                  <a:srgbClr val="5D605E"/>
                </a:solidFill>
                <a:latin typeface="Inter"/>
                <a:ea typeface="Inter"/>
                <a:cs typeface="Inter"/>
              </a:rPr>
              <a:t>Growth · Commerce · Campaign Lead</a:t>
            </a:r>
          </a:p>
        </p:txBody>
      </p:sp>
      <p:sp>
        <p:nvSpPr>
          <p:cNvPr id="13" name="">
            <a:extLst xmlns:a="http://schemas.openxmlformats.org/drawingml/2006/main">
              <a:ext uri="{FF2B5EF4-FFF2-40B4-BE49-F238E27FC236}">
                <a16:creationId xmlns:a16="http://schemas.microsoft.com/office/drawing/2014/main" id="{92233C20-098D-4D04-B95A-0D15DAAD41DE}"/>
              </a:ext>
            </a:extLst>
          </p:cNvPr>
          <p:cNvSpPr>
            <a:spLocks xmlns:a="http://schemas.openxmlformats.org/drawingml/2006/main" noGrp="1"/>
          </p:cNvSpPr>
          <p:nvPr/>
        </p:nvSpPr>
        <p:spPr>
          <a:xfrm xmlns:a="http://schemas.openxmlformats.org/drawingml/2006/main">
            <a:off x="971550" y="3543300"/>
            <a:ext cx="3886200" cy="762000"/>
          </a:xfrm>
          <a:prstGeom xmlns:a="http://schemas.openxmlformats.org/drawingml/2006/main" prst="roundRect">
            <a:avLst>
              <a:gd name="adj" fmla="val 8750"/>
            </a:avLst>
          </a:prstGeom>
          <a:solidFill xmlns:a="http://schemas.openxmlformats.org/drawingml/2006/main">
            <a:srgbClr val="FFFFFF"/>
          </a:solidFill>
          <a:ln xmlns:a="http://schemas.openxmlformats.org/drawingml/2006/main" w="9525">
            <a:solidFill>
              <a:srgbClr val="282828"/>
            </a:solidFill>
          </a:ln>
        </p:spPr>
      </p:sp>
      <p:sp>
        <p:nvSpPr>
          <p:cNvPr id="14" name="">
            <a:extLst xmlns:a="http://schemas.openxmlformats.org/drawingml/2006/main">
              <a:ext uri="{FF2B5EF4-FFF2-40B4-BE49-F238E27FC236}">
                <a16:creationId xmlns:a16="http://schemas.microsoft.com/office/drawing/2014/main" id="{5C33FFB3-FB0D-4866-9531-BCF8F13EB61F}"/>
              </a:ext>
            </a:extLst>
          </p:cNvPr>
          <p:cNvSpPr>
            <a:spLocks xmlns:a="http://schemas.openxmlformats.org/drawingml/2006/main" noGrp="1"/>
          </p:cNvSpPr>
          <p:nvPr/>
        </p:nvSpPr>
        <p:spPr>
          <a:xfrm xmlns:a="http://schemas.openxmlformats.org/drawingml/2006/main">
            <a:off x="1104900" y="3657600"/>
            <a:ext cx="3619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750" b="1">
                <a:solidFill>
                  <a:srgbClr val="282828"/>
                </a:solidFill>
                <a:latin typeface="Inter"/>
                <a:ea typeface="Inter"/>
                <a:cs typeface="Inter"/>
              </a:rPr>
              <a:t>CRUX</a:t>
            </a:r>
          </a:p>
        </p:txBody>
      </p:sp>
      <p:sp>
        <p:nvSpPr>
          <p:cNvPr id="15" name="">
            <a:extLst xmlns:a="http://schemas.openxmlformats.org/drawingml/2006/main">
              <a:ext uri="{FF2B5EF4-FFF2-40B4-BE49-F238E27FC236}">
                <a16:creationId xmlns:a16="http://schemas.microsoft.com/office/drawing/2014/main" id="{6F9FA611-4008-4D61-A51E-300A48A0EC20}"/>
              </a:ext>
            </a:extLst>
          </p:cNvPr>
          <p:cNvSpPr>
            <a:spLocks xmlns:a="http://schemas.openxmlformats.org/drawingml/2006/main" noGrp="1"/>
          </p:cNvSpPr>
          <p:nvPr/>
        </p:nvSpPr>
        <p:spPr>
          <a:xfrm xmlns:a="http://schemas.openxmlformats.org/drawingml/2006/main">
            <a:off x="1104900" y="3867150"/>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1275" b="1">
                <a:solidFill>
                  <a:srgbClr val="181818"/>
                </a:solidFill>
                <a:latin typeface="Inter"/>
                <a:ea typeface="Inter"/>
                <a:cs typeface="Inter"/>
              </a:rPr>
              <a:t>Creator role split unresolved</a:t>
            </a:r>
          </a:p>
        </p:txBody>
      </p:sp>
      <p:sp>
        <p:nvSpPr>
          <p:cNvPr id="16" name="">
            <a:extLst xmlns:a="http://schemas.openxmlformats.org/drawingml/2006/main">
              <a:ext uri="{FF2B5EF4-FFF2-40B4-BE49-F238E27FC236}">
                <a16:creationId xmlns:a16="http://schemas.microsoft.com/office/drawing/2014/main" id="{B7A41467-48A1-40B3-94FF-86DF276CCEED}"/>
              </a:ext>
            </a:extLst>
          </p:cNvPr>
          <p:cNvSpPr>
            <a:spLocks xmlns:a="http://schemas.openxmlformats.org/drawingml/2006/main" noGrp="1"/>
          </p:cNvSpPr>
          <p:nvPr/>
        </p:nvSpPr>
        <p:spPr>
          <a:xfrm xmlns:a="http://schemas.openxmlformats.org/drawingml/2006/main">
            <a:off x="1104900" y="4019550"/>
            <a:ext cx="3619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825">
                <a:solidFill>
                  <a:srgbClr val="5D605E"/>
                </a:solidFill>
                <a:latin typeface="Inter"/>
                <a:ea typeface="Inter"/>
                <a:cs typeface="Inter"/>
              </a:rPr>
              <a:t>Hero face vs hero + Shopee Live</a:t>
            </a:r>
          </a:p>
        </p:txBody>
      </p:sp>
      <p:sp>
        <p:nvSpPr>
          <p:cNvPr id="17" name="">
            <a:extLst xmlns:a="http://schemas.openxmlformats.org/drawingml/2006/main">
              <a:ext uri="{FF2B5EF4-FFF2-40B4-BE49-F238E27FC236}">
                <a16:creationId xmlns:a16="http://schemas.microsoft.com/office/drawing/2014/main" id="{07AD0C30-2805-47FF-85A5-C8337B2D20E1}"/>
              </a:ext>
            </a:extLst>
          </p:cNvPr>
          <p:cNvSpPr>
            <a:spLocks xmlns:a="http://schemas.openxmlformats.org/drawingml/2006/main" noGrp="1"/>
          </p:cNvSpPr>
          <p:nvPr/>
        </p:nvSpPr>
        <p:spPr>
          <a:xfrm xmlns:a="http://schemas.openxmlformats.org/drawingml/2006/main">
            <a:off x="971550" y="4400550"/>
            <a:ext cx="3886200" cy="762000"/>
          </a:xfrm>
          <a:prstGeom xmlns:a="http://schemas.openxmlformats.org/drawingml/2006/main" prst="roundRect">
            <a:avLst>
              <a:gd name="adj" fmla="val 8750"/>
            </a:avLst>
          </a:prstGeom>
          <a:solidFill xmlns:a="http://schemas.openxmlformats.org/drawingml/2006/main">
            <a:srgbClr val="F9F9F9"/>
          </a:solidFill>
          <a:ln xmlns:a="http://schemas.openxmlformats.org/drawingml/2006/main" w="9525">
            <a:solidFill>
              <a:srgbClr val="EDEDED"/>
            </a:solidFill>
          </a:ln>
        </p:spPr>
      </p:sp>
      <p:sp>
        <p:nvSpPr>
          <p:cNvPr id="18" name="">
            <a:extLst xmlns:a="http://schemas.openxmlformats.org/drawingml/2006/main">
              <a:ext uri="{FF2B5EF4-FFF2-40B4-BE49-F238E27FC236}">
                <a16:creationId xmlns:a16="http://schemas.microsoft.com/office/drawing/2014/main" id="{6CE851E4-7494-49D9-8F83-8592FFCFC4E1}"/>
              </a:ext>
            </a:extLst>
          </p:cNvPr>
          <p:cNvSpPr>
            <a:spLocks xmlns:a="http://schemas.openxmlformats.org/drawingml/2006/main" noGrp="1"/>
          </p:cNvSpPr>
          <p:nvPr/>
        </p:nvSpPr>
        <p:spPr>
          <a:xfrm xmlns:a="http://schemas.openxmlformats.org/drawingml/2006/main">
            <a:off x="1104900" y="4514850"/>
            <a:ext cx="3619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750" b="1">
                <a:solidFill>
                  <a:srgbClr val="5D605E"/>
                </a:solidFill>
                <a:latin typeface="Inter"/>
                <a:ea typeface="Inter"/>
                <a:cs typeface="Inter"/>
              </a:rPr>
              <a:t>CLEARED</a:t>
            </a:r>
          </a:p>
        </p:txBody>
      </p:sp>
      <p:sp>
        <p:nvSpPr>
          <p:cNvPr id="19" name="">
            <a:extLst xmlns:a="http://schemas.openxmlformats.org/drawingml/2006/main">
              <a:ext uri="{FF2B5EF4-FFF2-40B4-BE49-F238E27FC236}">
                <a16:creationId xmlns:a16="http://schemas.microsoft.com/office/drawing/2014/main" id="{BD3B687A-CB7F-4ECC-BC92-C9B4DA5BD6E9}"/>
              </a:ext>
            </a:extLst>
          </p:cNvPr>
          <p:cNvSpPr>
            <a:spLocks xmlns:a="http://schemas.openxmlformats.org/drawingml/2006/main" noGrp="1"/>
          </p:cNvSpPr>
          <p:nvPr/>
        </p:nvSpPr>
        <p:spPr>
          <a:xfrm xmlns:a="http://schemas.openxmlformats.org/drawingml/2006/main">
            <a:off x="1104900" y="4724400"/>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1275">
                <a:solidFill>
                  <a:srgbClr val="181818"/>
                </a:solidFill>
                <a:latin typeface="Inter"/>
                <a:ea typeface="Inter"/>
                <a:cs typeface="Inter"/>
              </a:rPr>
              <a:t>Action items cleared: 3</a:t>
            </a:r>
          </a:p>
        </p:txBody>
      </p:sp>
      <p:sp>
        <p:nvSpPr>
          <p:cNvPr id="20" name="">
            <a:extLst xmlns:a="http://schemas.openxmlformats.org/drawingml/2006/main">
              <a:ext uri="{FF2B5EF4-FFF2-40B4-BE49-F238E27FC236}">
                <a16:creationId xmlns:a16="http://schemas.microsoft.com/office/drawing/2014/main" id="{58F3F0E1-5AC1-484C-A520-093D034804F3}"/>
              </a:ext>
            </a:extLst>
          </p:cNvPr>
          <p:cNvSpPr>
            <a:spLocks xmlns:a="http://schemas.openxmlformats.org/drawingml/2006/main" noGrp="1"/>
          </p:cNvSpPr>
          <p:nvPr/>
        </p:nvSpPr>
        <p:spPr>
          <a:xfrm xmlns:a="http://schemas.openxmlformats.org/drawingml/2006/main">
            <a:off x="1104900" y="4876800"/>
            <a:ext cx="3619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825">
                <a:solidFill>
                  <a:srgbClr val="5D605E"/>
                </a:solidFill>
                <a:latin typeface="Inter"/>
                <a:ea typeface="Inter"/>
                <a:cs typeface="Inter"/>
              </a:rPr>
              <a:t>0 need an owner · owner: John Taylor</a:t>
            </a:r>
          </a:p>
        </p:txBody>
      </p:sp>
      <p:sp>
        <p:nvSpPr>
          <p:cNvPr id="21" name="">
            <a:extLst xmlns:a="http://schemas.openxmlformats.org/drawingml/2006/main">
              <a:ext uri="{FF2B5EF4-FFF2-40B4-BE49-F238E27FC236}">
                <a16:creationId xmlns:a16="http://schemas.microsoft.com/office/drawing/2014/main" id="{F3BBE40A-DF17-45E6-AF06-DEA762BCE80F}"/>
              </a:ext>
            </a:extLst>
          </p:cNvPr>
          <p:cNvSpPr>
            <a:spLocks xmlns:a="http://schemas.openxmlformats.org/drawingml/2006/main" noGrp="1"/>
          </p:cNvSpPr>
          <p:nvPr/>
        </p:nvSpPr>
        <p:spPr>
          <a:xfrm xmlns:a="http://schemas.openxmlformats.org/drawingml/2006/main">
            <a:off x="5276850" y="1962150"/>
            <a:ext cx="5334000" cy="1543050"/>
          </a:xfrm>
          <a:prstGeom xmlns:a="http://schemas.openxmlformats.org/drawingml/2006/main" prst="roundRect">
            <a:avLst>
              <a:gd name="adj" fmla="val 4938"/>
            </a:avLst>
          </a:prstGeom>
          <a:solidFill xmlns:a="http://schemas.openxmlformats.org/drawingml/2006/main">
            <a:srgbClr val="F3F3F3"/>
          </a:solidFill>
          <a:ln xmlns:a="http://schemas.openxmlformats.org/drawingml/2006/main" w="9525">
            <a:solidFill>
              <a:srgbClr val="282828"/>
            </a:solidFill>
          </a:ln>
        </p:spPr>
      </p:sp>
      <p:sp>
        <p:nvSpPr>
          <p:cNvPr id="22" name="">
            <a:extLst xmlns:a="http://schemas.openxmlformats.org/drawingml/2006/main">
              <a:ext uri="{FF2B5EF4-FFF2-40B4-BE49-F238E27FC236}">
                <a16:creationId xmlns:a16="http://schemas.microsoft.com/office/drawing/2014/main" id="{2AD241ED-6C4F-4959-94B8-4B995ABC31BA}"/>
              </a:ext>
            </a:extLst>
          </p:cNvPr>
          <p:cNvSpPr>
            <a:spLocks xmlns:a="http://schemas.openxmlformats.org/drawingml/2006/main" noGrp="1"/>
          </p:cNvSpPr>
          <p:nvPr/>
        </p:nvSpPr>
        <p:spPr>
          <a:xfrm xmlns:a="http://schemas.openxmlformats.org/drawingml/2006/main">
            <a:off x="5581650" y="2247900"/>
            <a:ext cx="438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800" b="1">
                <a:solidFill>
                  <a:srgbClr val="181818"/>
                </a:solidFill>
                <a:latin typeface="Inter"/>
                <a:ea typeface="Inter"/>
                <a:cs typeface="Inter"/>
              </a:rPr>
              <a:t>1. Align the success objective</a:t>
            </a:r>
          </a:p>
        </p:txBody>
      </p:sp>
      <p:sp>
        <p:nvSpPr>
          <p:cNvPr id="23" name="">
            <a:extLst xmlns:a="http://schemas.openxmlformats.org/drawingml/2006/main">
              <a:ext uri="{FF2B5EF4-FFF2-40B4-BE49-F238E27FC236}">
                <a16:creationId xmlns:a16="http://schemas.microsoft.com/office/drawing/2014/main" id="{9531EEB3-919D-4F81-B362-0CB2797EB5AD}"/>
              </a:ext>
            </a:extLst>
          </p:cNvPr>
          <p:cNvSpPr>
            <a:spLocks xmlns:a="http://schemas.openxmlformats.org/drawingml/2006/main" noGrp="1"/>
          </p:cNvSpPr>
          <p:nvPr/>
        </p:nvSpPr>
        <p:spPr>
          <a:xfrm xmlns:a="http://schemas.openxmlformats.org/drawingml/2006/main">
            <a:off x="5581650" y="2705100"/>
            <a:ext cx="4476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350">
                <a:solidFill>
                  <a:srgbClr val="282828"/>
                </a:solidFill>
                <a:latin typeface="Inter"/>
                <a:ea typeface="Inter"/>
                <a:cs typeface="Inter"/>
              </a:rPr>
              <a:t>Growth wants acquisition. Commerce wants GMV. The campaign lead wants mainstream-safe youth reach.</a:t>
            </a:r>
          </a:p>
        </p:txBody>
      </p:sp>
      <p:sp>
        <p:nvSpPr>
          <p:cNvPr id="24" name="">
            <a:extLst xmlns:a="http://schemas.openxmlformats.org/drawingml/2006/main">
              <a:ext uri="{FF2B5EF4-FFF2-40B4-BE49-F238E27FC236}">
                <a16:creationId xmlns:a16="http://schemas.microsoft.com/office/drawing/2014/main" id="{EDB4ED5E-8419-4D18-A5CC-E48F8C8DCE30}"/>
              </a:ext>
            </a:extLst>
          </p:cNvPr>
          <p:cNvSpPr>
            <a:spLocks xmlns:a="http://schemas.openxmlformats.org/drawingml/2006/main" noGrp="1"/>
          </p:cNvSpPr>
          <p:nvPr/>
        </p:nvSpPr>
        <p:spPr>
          <a:xfrm xmlns:a="http://schemas.openxmlformats.org/drawingml/2006/main">
            <a:off x="5276850" y="3733800"/>
            <a:ext cx="5334000" cy="156210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9525">
            <a:solidFill>
              <a:srgbClr val="282828"/>
            </a:solidFill>
          </a:ln>
        </p:spPr>
      </p:sp>
      <p:sp>
        <p:nvSpPr>
          <p:cNvPr id="25" name="">
            <a:extLst xmlns:a="http://schemas.openxmlformats.org/drawingml/2006/main">
              <a:ext uri="{FF2B5EF4-FFF2-40B4-BE49-F238E27FC236}">
                <a16:creationId xmlns:a16="http://schemas.microsoft.com/office/drawing/2014/main" id="{C3253482-E516-46DB-ADBD-D6752E5F07E5}"/>
              </a:ext>
            </a:extLst>
          </p:cNvPr>
          <p:cNvSpPr>
            <a:spLocks xmlns:a="http://schemas.openxmlformats.org/drawingml/2006/main" noGrp="1"/>
          </p:cNvSpPr>
          <p:nvPr/>
        </p:nvSpPr>
        <p:spPr>
          <a:xfrm xmlns:a="http://schemas.openxmlformats.org/drawingml/2006/main">
            <a:off x="5581650" y="4019550"/>
            <a:ext cx="438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800" b="1">
                <a:solidFill>
                  <a:srgbClr val="181818"/>
                </a:solidFill>
                <a:latin typeface="Inter"/>
                <a:ea typeface="Inter"/>
                <a:cs typeface="Inter"/>
              </a:rPr>
              <a:t>2. Decide the creator role split</a:t>
            </a:r>
          </a:p>
        </p:txBody>
      </p:sp>
      <p:sp>
        <p:nvSpPr>
          <p:cNvPr id="26" name="">
            <a:extLst xmlns:a="http://schemas.openxmlformats.org/drawingml/2006/main">
              <a:ext uri="{FF2B5EF4-FFF2-40B4-BE49-F238E27FC236}">
                <a16:creationId xmlns:a16="http://schemas.microsoft.com/office/drawing/2014/main" id="{837D3E45-BDBC-42E6-8F29-D524A9DC4EA8}"/>
              </a:ext>
            </a:extLst>
          </p:cNvPr>
          <p:cNvSpPr>
            <a:spLocks xmlns:a="http://schemas.openxmlformats.org/drawingml/2006/main" noGrp="1"/>
          </p:cNvSpPr>
          <p:nvPr/>
        </p:nvSpPr>
        <p:spPr>
          <a:xfrm xmlns:a="http://schemas.openxmlformats.org/drawingml/2006/main">
            <a:off x="5581650" y="4476750"/>
            <a:ext cx="4476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425">
                <a:solidFill>
                  <a:srgbClr val="282828"/>
                </a:solidFill>
                <a:latin typeface="Inter"/>
                <a:ea typeface="Inter"/>
                <a:cs typeface="Inter"/>
              </a:rPr>
              <a:t>One hero face, or hero plus Shopee Live conversion partner. John owns the final call.</a:t>
            </a:r>
          </a:p>
        </p:txBody>
      </p:sp>
      <p:sp>
        <p:nvSpPr>
          <p:cNvPr id="27" name="">
            <a:extLst xmlns:a="http://schemas.openxmlformats.org/drawingml/2006/main">
              <a:ext uri="{FF2B5EF4-FFF2-40B4-BE49-F238E27FC236}">
                <a16:creationId xmlns:a16="http://schemas.microsoft.com/office/drawing/2014/main" id="{ED973380-5495-4897-A391-E8804B23D1C3}"/>
              </a:ext>
            </a:extLst>
          </p:cNvPr>
          <p:cNvSpPr>
            <a:spLocks xmlns:a="http://schemas.openxmlformats.org/drawingml/2006/main" noGrp="1"/>
          </p:cNvSpPr>
          <p:nvPr/>
        </p:nvSpPr>
        <p:spPr>
          <a:xfrm xmlns:a="http://schemas.openxmlformats.org/drawingml/2006/main">
            <a:off x="857250" y="5562600"/>
            <a:ext cx="2095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050" b="1">
                <a:solidFill>
                  <a:srgbClr val="5D605E"/>
                </a:solidFill>
                <a:latin typeface="Inter"/>
                <a:ea typeface="Inter"/>
                <a:cs typeface="Inter"/>
              </a:rPr>
              <a:t>Pre-read, not live debate</a:t>
            </a:r>
          </a:p>
        </p:txBody>
      </p:sp>
      <p:sp>
        <p:nvSpPr>
          <p:cNvPr id="28" name="">
            <a:extLst xmlns:a="http://schemas.openxmlformats.org/drawingml/2006/main">
              <a:ext uri="{FF2B5EF4-FFF2-40B4-BE49-F238E27FC236}">
                <a16:creationId xmlns:a16="http://schemas.microsoft.com/office/drawing/2014/main" id="{034E3012-BAF1-4572-9DA3-72F2F547BA79}"/>
              </a:ext>
            </a:extLst>
          </p:cNvPr>
          <p:cNvSpPr>
            <a:spLocks xmlns:a="http://schemas.openxmlformats.org/drawingml/2006/main" noGrp="1"/>
          </p:cNvSpPr>
          <p:nvPr/>
        </p:nvSpPr>
        <p:spPr>
          <a:xfrm xmlns:a="http://schemas.openxmlformats.org/drawingml/2006/main">
            <a:off x="857250" y="5829300"/>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275">
                <a:solidFill>
                  <a:srgbClr val="282828"/>
                </a:solidFill>
                <a:latin typeface="Inter"/>
                <a:ea typeface="Inter"/>
                <a:cs typeface="Inter"/>
              </a:rPr>
              <a:t>Short-form + Shopee Live, tracking, hero categories, paid amplification, brand-safety review, backup creators.</a:t>
            </a:r>
          </a:p>
        </p:txBody>
      </p:sp>
    </p:spTree>
    <p:extLst>
      <p:ext uri="{BB962C8B-B14F-4D97-AF65-F5344CB8AC3E}">
        <p14:creationId xmlns:p14="http://schemas.microsoft.com/office/powerpoint/2010/main" val="119004831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 name=""/>
          <p:cNvPicPr>
            <a:picLocks xmlns:a="http://schemas.openxmlformats.org/drawingml/2006/main" noChangeAspect="1"/>
          </p:cNvPicPr>
          <p:nvPr/>
        </p:nvPicPr>
        <p:blipFill>
          <a:blip xmlns:r="http://schemas.openxmlformats.org/officeDocument/2006/relationships" xmlns:a="http://schemas.openxmlformats.org/drawingml/2006/main" r:embed="Rb00e6114d3174c2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6AAF935-9C09-4C8D-AB9B-31E386CB6D77}"/>
              </a:ext>
            </a:extLst>
          </p:cNvPr>
          <p:cNvSpPr>
            <a:spLocks xmlns:a="http://schemas.openxmlformats.org/drawingml/2006/main" noGrp="1"/>
          </p:cNvSpPr>
          <p:nvPr/>
        </p:nvSpPr>
        <p:spPr>
          <a:xfrm xmlns:a="http://schemas.openxmlformats.org/drawingml/2006/main">
            <a:off x="685800" y="4191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19050" rIns="0" bIns="0">
            <a:noAutofit/>
          </a:bodyPr>
          <a:lstStyle xmlns:a="http://schemas.openxmlformats.org/drawingml/2006/main"/>
          <a:p xmlns:a="http://schemas.openxmlformats.org/drawingml/2006/main">
            <a:r>
              <a:rPr sz="975" b="1">
                <a:solidFill>
                  <a:srgbClr val="5D605E"/>
                </a:solidFill>
                <a:latin typeface="Inter"/>
                <a:ea typeface="Inter"/>
                <a:cs typeface="Inter"/>
              </a:rPr>
              <a:t>BUILD</a:t>
            </a:r>
          </a:p>
        </p:txBody>
      </p:sp>
      <p:sp>
        <p:nvSpPr>
          <p:cNvPr id="3" name="">
            <a:extLst xmlns:a="http://schemas.openxmlformats.org/drawingml/2006/main">
              <a:ext uri="{FF2B5EF4-FFF2-40B4-BE49-F238E27FC236}">
                <a16:creationId xmlns:a16="http://schemas.microsoft.com/office/drawing/2014/main" id="{7C1E81D5-6232-48F9-8CE3-F1A89D9983E4}"/>
              </a:ext>
            </a:extLst>
          </p:cNvPr>
          <p:cNvSpPr>
            <a:spLocks xmlns:a="http://schemas.openxmlformats.org/drawingml/2006/main" noGrp="1"/>
          </p:cNvSpPr>
          <p:nvPr/>
        </p:nvSpPr>
        <p:spPr>
          <a:xfrm xmlns:a="http://schemas.openxmlformats.org/drawingml/2006/main">
            <a:off x="666750" y="723900"/>
            <a:ext cx="8763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3000">
                <a:solidFill>
                  <a:srgbClr val="181818"/>
                </a:solidFill>
                <a:latin typeface="Inter"/>
                <a:ea typeface="Inter"/>
                <a:cs typeface="Inter"/>
              </a:rPr>
              <a:t>Managed agents make prep continuous,</a:t>
            </a:r>
          </a:p>
          <a:p xmlns:a="http://schemas.openxmlformats.org/drawingml/2006/main">
            <a:r>
              <a:rPr sz="3000">
                <a:solidFill>
                  <a:srgbClr val="181818"/>
                </a:solidFill>
                <a:latin typeface="Inter"/>
                <a:ea typeface="Inter"/>
                <a:cs typeface="Inter"/>
              </a:rPr>
              <a:t>then disappear.</a:t>
            </a:r>
          </a:p>
        </p:txBody>
      </p:sp>
      <p:sp>
        <p:nvSpPr>
          <p:cNvPr id="4" name="">
            <a:extLst xmlns:a="http://schemas.openxmlformats.org/drawingml/2006/main">
              <a:ext uri="{FF2B5EF4-FFF2-40B4-BE49-F238E27FC236}">
                <a16:creationId xmlns:a16="http://schemas.microsoft.com/office/drawing/2014/main" id="{6382F162-9168-4773-9C26-ED0442C4CA25}"/>
              </a:ext>
            </a:extLst>
          </p:cNvPr>
          <p:cNvSpPr>
            <a:spLocks xmlns:a="http://schemas.openxmlformats.org/drawingml/2006/main" noGrp="1"/>
          </p:cNvSpPr>
          <p:nvPr/>
        </p:nvSpPr>
        <p:spPr>
          <a:xfrm xmlns:a="http://schemas.openxmlformats.org/drawingml/2006/main">
            <a:off x="685800" y="6515100"/>
            <a:ext cx="723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750">
                <a:solidFill>
                  <a:srgbClr val="5D605E"/>
                </a:solidFill>
                <a:latin typeface="Inter"/>
                <a:ea typeface="Inter"/>
                <a:cs typeface="Inter"/>
              </a:rPr>
              <a:t>Sources: docs/pitch-script.md, docs/build-plan.md</a:t>
            </a:r>
          </a:p>
        </p:txBody>
      </p:sp>
      <p:sp>
        <p:nvSpPr>
          <p:cNvPr id="5" name="">
            <a:extLst xmlns:a="http://schemas.openxmlformats.org/drawingml/2006/main">
              <a:ext uri="{FF2B5EF4-FFF2-40B4-BE49-F238E27FC236}">
                <a16:creationId xmlns:a16="http://schemas.microsoft.com/office/drawing/2014/main" id="{9FB6C5F2-C814-495F-9C68-147CBC2997F7}"/>
              </a:ext>
            </a:extLst>
          </p:cNvPr>
          <p:cNvSpPr>
            <a:spLocks xmlns:a="http://schemas.openxmlformats.org/drawingml/2006/main" noGrp="1"/>
          </p:cNvSpPr>
          <p:nvPr/>
        </p:nvSpPr>
        <p:spPr>
          <a:xfrm xmlns:a="http://schemas.openxmlformats.org/drawingml/2006/main">
            <a:off x="11239500" y="6515100"/>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750">
                <a:solidFill>
                  <a:srgbClr val="5D605E"/>
                </a:solidFill>
                <a:latin typeface="Inter"/>
                <a:ea typeface="Inter"/>
                <a:cs typeface="Inter"/>
              </a:defRPr>
            </a:pPr>
            <a:r>
              <a:rPr sz="750">
                <a:solidFill>
                  <a:srgbClr val="5D605E"/>
                </a:solidFill>
                <a:latin typeface="Inter"/>
                <a:ea typeface="Inter"/>
                <a:cs typeface="Inter"/>
              </a:rPr>
              <a:t>06</a:t>
            </a:r>
          </a:p>
        </p:txBody>
      </p:sp>
      <p:sp>
        <p:nvSpPr>
          <p:cNvPr id="6" name="">
            <a:extLst xmlns:a="http://schemas.openxmlformats.org/drawingml/2006/main">
              <a:ext uri="{FF2B5EF4-FFF2-40B4-BE49-F238E27FC236}">
                <a16:creationId xmlns:a16="http://schemas.microsoft.com/office/drawing/2014/main" id="{771B69B7-C8C2-4D81-8FF6-60A1C2DB0D95}"/>
              </a:ext>
            </a:extLst>
          </p:cNvPr>
          <p:cNvSpPr>
            <a:spLocks xmlns:a="http://schemas.openxmlformats.org/drawingml/2006/main" noGrp="1"/>
          </p:cNvSpPr>
          <p:nvPr/>
        </p:nvSpPr>
        <p:spPr>
          <a:xfrm xmlns:a="http://schemas.openxmlformats.org/drawingml/2006/main">
            <a:off x="895350" y="2152650"/>
            <a:ext cx="2095500" cy="230505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EDEDED"/>
            </a:solidFill>
          </a:ln>
        </p:spPr>
      </p:sp>
      <p:sp>
        <p:nvSpPr>
          <p:cNvPr id="7" name="">
            <a:extLst xmlns:a="http://schemas.openxmlformats.org/drawingml/2006/main">
              <a:ext uri="{FF2B5EF4-FFF2-40B4-BE49-F238E27FC236}">
                <a16:creationId xmlns:a16="http://schemas.microsoft.com/office/drawing/2014/main" id="{A618F657-38B9-481E-9889-968D84E7E496}"/>
              </a:ext>
            </a:extLst>
          </p:cNvPr>
          <p:cNvSpPr>
            <a:spLocks xmlns:a="http://schemas.openxmlformats.org/drawingml/2006/main" noGrp="1"/>
          </p:cNvSpPr>
          <p:nvPr/>
        </p:nvSpPr>
        <p:spPr>
          <a:xfrm xmlns:a="http://schemas.openxmlformats.org/drawingml/2006/main">
            <a:off x="1104900" y="2419350"/>
            <a:ext cx="152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800" b="1">
                <a:solidFill>
                  <a:srgbClr val="181818"/>
                </a:solidFill>
                <a:latin typeface="Inter"/>
                <a:ea typeface="Inter"/>
                <a:cs typeface="Inter"/>
              </a:rPr>
              <a:t>Slack</a:t>
            </a:r>
          </a:p>
        </p:txBody>
      </p:sp>
      <p:sp>
        <p:nvSpPr>
          <p:cNvPr id="8" name="">
            <a:extLst xmlns:a="http://schemas.openxmlformats.org/drawingml/2006/main">
              <a:ext uri="{FF2B5EF4-FFF2-40B4-BE49-F238E27FC236}">
                <a16:creationId xmlns:a16="http://schemas.microsoft.com/office/drawing/2014/main" id="{65BB05DC-FD4C-4561-B19F-B9ACEC5C501D}"/>
              </a:ext>
            </a:extLst>
          </p:cNvPr>
          <p:cNvSpPr>
            <a:spLocks xmlns:a="http://schemas.openxmlformats.org/drawingml/2006/main" noGrp="1"/>
          </p:cNvSpPr>
          <p:nvPr/>
        </p:nvSpPr>
        <p:spPr>
          <a:xfrm xmlns:a="http://schemas.openxmlformats.org/drawingml/2006/main">
            <a:off x="1104900" y="2895600"/>
            <a:ext cx="1619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500">
                <a:solidFill>
                  <a:srgbClr val="181818"/>
                </a:solidFill>
                <a:latin typeface="Inter"/>
                <a:ea typeface="Inter"/>
                <a:cs typeface="Inter"/>
              </a:rPr>
              <a:t>natural-language prep</a:t>
            </a:r>
          </a:p>
          <a:p xmlns:a="http://schemas.openxmlformats.org/drawingml/2006/main">
            <a:r>
              <a:rPr sz="1500">
                <a:solidFill>
                  <a:srgbClr val="181818"/>
                </a:solidFill>
                <a:latin typeface="Inter"/>
                <a:ea typeface="Inter"/>
                <a:cs typeface="Inter"/>
              </a:rPr>
              <a:t>stakeholder mentions</a:t>
            </a:r>
          </a:p>
          <a:p xmlns:a="http://schemas.openxmlformats.org/drawingml/2006/main">
            <a:r>
              <a:rPr sz="1500">
                <a:solidFill>
                  <a:srgbClr val="181818"/>
                </a:solidFill>
                <a:latin typeface="Inter"/>
                <a:ea typeface="Inter"/>
                <a:cs typeface="Inter"/>
              </a:rPr>
              <a:t>brief delivery</a:t>
            </a:r>
          </a:p>
        </p:txBody>
      </p:sp>
      <p:sp>
        <p:nvSpPr>
          <p:cNvPr id="9" name="">
            <a:extLst xmlns:a="http://schemas.openxmlformats.org/drawingml/2006/main">
              <a:ext uri="{FF2B5EF4-FFF2-40B4-BE49-F238E27FC236}">
                <a16:creationId xmlns:a16="http://schemas.microsoft.com/office/drawing/2014/main" id="{3D32FF3E-566D-4D19-AE7F-5D205D43721D}"/>
              </a:ext>
            </a:extLst>
          </p:cNvPr>
          <p:cNvSpPr>
            <a:spLocks xmlns:a="http://schemas.openxmlformats.org/drawingml/2006/main" noGrp="1"/>
          </p:cNvSpPr>
          <p:nvPr/>
        </p:nvSpPr>
        <p:spPr>
          <a:xfrm xmlns:a="http://schemas.openxmlformats.org/drawingml/2006/main">
            <a:off x="3067050" y="3276600"/>
            <a:ext cx="247650" cy="19050"/>
          </a:xfrm>
          <a:prstGeom xmlns:a="http://schemas.openxmlformats.org/drawingml/2006/main" prst="rect">
            <a:avLst/>
          </a:prstGeom>
          <a:solidFill xmlns:a="http://schemas.openxmlformats.org/drawingml/2006/main">
            <a:srgbClr val="EDEDED"/>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74A8A88-C92D-4B66-A9CE-19D58F3FEE9A}"/>
              </a:ext>
            </a:extLst>
          </p:cNvPr>
          <p:cNvSpPr>
            <a:spLocks xmlns:a="http://schemas.openxmlformats.org/drawingml/2006/main" noGrp="1"/>
          </p:cNvSpPr>
          <p:nvPr/>
        </p:nvSpPr>
        <p:spPr>
          <a:xfrm xmlns:a="http://schemas.openxmlformats.org/drawingml/2006/main">
            <a:off x="3295650" y="3238500"/>
            <a:ext cx="133350" cy="95250"/>
          </a:xfrm>
          <a:prstGeom xmlns:a="http://schemas.openxmlformats.org/drawingml/2006/main" prst="triangle">
            <a:avLst/>
          </a:prstGeom>
          <a:solidFill xmlns:a="http://schemas.openxmlformats.org/drawingml/2006/main">
            <a:srgbClr val="EDEDED"/>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AC9D20D-4A4C-47AB-BEA7-346A074EF23F}"/>
              </a:ext>
            </a:extLst>
          </p:cNvPr>
          <p:cNvSpPr>
            <a:spLocks xmlns:a="http://schemas.openxmlformats.org/drawingml/2006/main" noGrp="1"/>
          </p:cNvSpPr>
          <p:nvPr/>
        </p:nvSpPr>
        <p:spPr>
          <a:xfrm xmlns:a="http://schemas.openxmlformats.org/drawingml/2006/main">
            <a:off x="3448050" y="2152650"/>
            <a:ext cx="2095500" cy="230505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EDEDED"/>
            </a:solidFill>
          </a:ln>
        </p:spPr>
      </p:sp>
      <p:sp>
        <p:nvSpPr>
          <p:cNvPr id="12" name="">
            <a:extLst xmlns:a="http://schemas.openxmlformats.org/drawingml/2006/main">
              <a:ext uri="{FF2B5EF4-FFF2-40B4-BE49-F238E27FC236}">
                <a16:creationId xmlns:a16="http://schemas.microsoft.com/office/drawing/2014/main" id="{8288D67B-9C96-4DB6-AF52-F48C9C86A2FD}"/>
              </a:ext>
            </a:extLst>
          </p:cNvPr>
          <p:cNvSpPr>
            <a:spLocks xmlns:a="http://schemas.openxmlformats.org/drawingml/2006/main" noGrp="1"/>
          </p:cNvSpPr>
          <p:nvPr/>
        </p:nvSpPr>
        <p:spPr>
          <a:xfrm xmlns:a="http://schemas.openxmlformats.org/drawingml/2006/main">
            <a:off x="3657600" y="2419350"/>
            <a:ext cx="152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800" b="1">
                <a:solidFill>
                  <a:srgbClr val="181818"/>
                </a:solidFill>
                <a:latin typeface="Inter"/>
                <a:ea typeface="Inter"/>
                <a:cs typeface="Inter"/>
              </a:rPr>
              <a:t>Persistent sessions</a:t>
            </a:r>
          </a:p>
        </p:txBody>
      </p:sp>
      <p:sp>
        <p:nvSpPr>
          <p:cNvPr id="13" name="">
            <a:extLst xmlns:a="http://schemas.openxmlformats.org/drawingml/2006/main">
              <a:ext uri="{FF2B5EF4-FFF2-40B4-BE49-F238E27FC236}">
                <a16:creationId xmlns:a16="http://schemas.microsoft.com/office/drawing/2014/main" id="{6E74F71B-E202-46BF-B034-F4708A3B94F7}"/>
              </a:ext>
            </a:extLst>
          </p:cNvPr>
          <p:cNvSpPr>
            <a:spLocks xmlns:a="http://schemas.openxmlformats.org/drawingml/2006/main" noGrp="1"/>
          </p:cNvSpPr>
          <p:nvPr/>
        </p:nvSpPr>
        <p:spPr>
          <a:xfrm xmlns:a="http://schemas.openxmlformats.org/drawingml/2006/main">
            <a:off x="3657600" y="2895600"/>
            <a:ext cx="1619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500">
                <a:solidFill>
                  <a:srgbClr val="181818"/>
                </a:solidFill>
                <a:latin typeface="Inter"/>
                <a:ea typeface="Inter"/>
                <a:cs typeface="Inter"/>
              </a:rPr>
              <a:t>one agent per person</a:t>
            </a:r>
          </a:p>
          <a:p xmlns:a="http://schemas.openxmlformats.org/drawingml/2006/main">
            <a:r>
              <a:rPr sz="1500">
                <a:solidFill>
                  <a:srgbClr val="181818"/>
                </a:solidFill>
                <a:latin typeface="Inter"/>
                <a:ea typeface="Inter"/>
                <a:cs typeface="Inter"/>
              </a:rPr>
              <a:t>stance history</a:t>
            </a:r>
          </a:p>
          <a:p xmlns:a="http://schemas.openxmlformats.org/drawingml/2006/main">
            <a:r>
              <a:rPr sz="1500">
                <a:solidFill>
                  <a:srgbClr val="181818"/>
                </a:solidFill>
                <a:latin typeface="Inter"/>
                <a:ea typeface="Inter"/>
                <a:cs typeface="Inter"/>
              </a:rPr>
              <a:t>structured tools</a:t>
            </a:r>
          </a:p>
        </p:txBody>
      </p:sp>
      <p:sp>
        <p:nvSpPr>
          <p:cNvPr id="14" name="">
            <a:extLst xmlns:a="http://schemas.openxmlformats.org/drawingml/2006/main">
              <a:ext uri="{FF2B5EF4-FFF2-40B4-BE49-F238E27FC236}">
                <a16:creationId xmlns:a16="http://schemas.microsoft.com/office/drawing/2014/main" id="{4DCFE65E-0907-4194-8035-30240D609757}"/>
              </a:ext>
            </a:extLst>
          </p:cNvPr>
          <p:cNvSpPr>
            <a:spLocks xmlns:a="http://schemas.openxmlformats.org/drawingml/2006/main" noGrp="1"/>
          </p:cNvSpPr>
          <p:nvPr/>
        </p:nvSpPr>
        <p:spPr>
          <a:xfrm xmlns:a="http://schemas.openxmlformats.org/drawingml/2006/main">
            <a:off x="5619750" y="3276600"/>
            <a:ext cx="247650" cy="19050"/>
          </a:xfrm>
          <a:prstGeom xmlns:a="http://schemas.openxmlformats.org/drawingml/2006/main" prst="rect">
            <a:avLst/>
          </a:prstGeom>
          <a:solidFill xmlns:a="http://schemas.openxmlformats.org/drawingml/2006/main">
            <a:srgbClr val="EDEDED"/>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27E8FDC-E9B9-46C0-9694-0668C4F1994A}"/>
              </a:ext>
            </a:extLst>
          </p:cNvPr>
          <p:cNvSpPr>
            <a:spLocks xmlns:a="http://schemas.openxmlformats.org/drawingml/2006/main" noGrp="1"/>
          </p:cNvSpPr>
          <p:nvPr/>
        </p:nvSpPr>
        <p:spPr>
          <a:xfrm xmlns:a="http://schemas.openxmlformats.org/drawingml/2006/main">
            <a:off x="5848350" y="3238500"/>
            <a:ext cx="133350" cy="95250"/>
          </a:xfrm>
          <a:prstGeom xmlns:a="http://schemas.openxmlformats.org/drawingml/2006/main" prst="triangle">
            <a:avLst/>
          </a:prstGeom>
          <a:solidFill xmlns:a="http://schemas.openxmlformats.org/drawingml/2006/main">
            <a:srgbClr val="EDEDED"/>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DEC91BC7-E18C-4D75-A2DE-096DB4B3FCC6}"/>
              </a:ext>
            </a:extLst>
          </p:cNvPr>
          <p:cNvSpPr>
            <a:spLocks xmlns:a="http://schemas.openxmlformats.org/drawingml/2006/main" noGrp="1"/>
          </p:cNvSpPr>
          <p:nvPr/>
        </p:nvSpPr>
        <p:spPr>
          <a:xfrm xmlns:a="http://schemas.openxmlformats.org/drawingml/2006/main">
            <a:off x="6000750" y="2152650"/>
            <a:ext cx="2095500" cy="2305050"/>
          </a:xfrm>
          <a:prstGeom xmlns:a="http://schemas.openxmlformats.org/drawingml/2006/main" prst="roundRect">
            <a:avLst>
              <a:gd name="adj" fmla="val 3636"/>
            </a:avLst>
          </a:prstGeom>
          <a:solidFill xmlns:a="http://schemas.openxmlformats.org/drawingml/2006/main">
            <a:srgbClr val="F3F3F3"/>
          </a:solidFill>
          <a:ln xmlns:a="http://schemas.openxmlformats.org/drawingml/2006/main" w="9525">
            <a:solidFill>
              <a:srgbClr val="282828"/>
            </a:solidFill>
          </a:ln>
        </p:spPr>
      </p:sp>
      <p:sp>
        <p:nvSpPr>
          <p:cNvPr id="17" name="">
            <a:extLst xmlns:a="http://schemas.openxmlformats.org/drawingml/2006/main">
              <a:ext uri="{FF2B5EF4-FFF2-40B4-BE49-F238E27FC236}">
                <a16:creationId xmlns:a16="http://schemas.microsoft.com/office/drawing/2014/main" id="{ADD90DEF-15DB-4BD0-BA3B-60C1ADB0C07D}"/>
              </a:ext>
            </a:extLst>
          </p:cNvPr>
          <p:cNvSpPr>
            <a:spLocks xmlns:a="http://schemas.openxmlformats.org/drawingml/2006/main" noGrp="1"/>
          </p:cNvSpPr>
          <p:nvPr/>
        </p:nvSpPr>
        <p:spPr>
          <a:xfrm xmlns:a="http://schemas.openxmlformats.org/drawingml/2006/main">
            <a:off x="6210300" y="2419350"/>
            <a:ext cx="152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800" b="1">
                <a:solidFill>
                  <a:srgbClr val="181818"/>
                </a:solidFill>
                <a:latin typeface="Inter"/>
                <a:ea typeface="Inter"/>
                <a:cs typeface="Inter"/>
              </a:rPr>
              <a:t>Ephemeral session</a:t>
            </a:r>
          </a:p>
        </p:txBody>
      </p:sp>
      <p:sp>
        <p:nvSpPr>
          <p:cNvPr id="18" name="">
            <a:extLst xmlns:a="http://schemas.openxmlformats.org/drawingml/2006/main">
              <a:ext uri="{FF2B5EF4-FFF2-40B4-BE49-F238E27FC236}">
                <a16:creationId xmlns:a16="http://schemas.microsoft.com/office/drawing/2014/main" id="{D4E3262E-7D46-4D50-9147-462DD7CDC558}"/>
              </a:ext>
            </a:extLst>
          </p:cNvPr>
          <p:cNvSpPr>
            <a:spLocks xmlns:a="http://schemas.openxmlformats.org/drawingml/2006/main" noGrp="1"/>
          </p:cNvSpPr>
          <p:nvPr/>
        </p:nvSpPr>
        <p:spPr>
          <a:xfrm xmlns:a="http://schemas.openxmlformats.org/drawingml/2006/main">
            <a:off x="6210300" y="2895600"/>
            <a:ext cx="1619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500">
                <a:solidFill>
                  <a:srgbClr val="181818"/>
                </a:solidFill>
                <a:latin typeface="Inter"/>
                <a:ea typeface="Inter"/>
                <a:cs typeface="Inter"/>
              </a:rPr>
              <a:t>one orchestrator</a:t>
            </a:r>
          </a:p>
          <a:p xmlns:a="http://schemas.openxmlformats.org/drawingml/2006/main">
            <a:r>
              <a:rPr sz="1500">
                <a:solidFill>
                  <a:srgbClr val="181818"/>
                </a:solidFill>
                <a:latin typeface="Inter"/>
                <a:ea typeface="Inter"/>
                <a:cs typeface="Inter"/>
              </a:rPr>
              <a:t>for one meeting</a:t>
            </a:r>
          </a:p>
          <a:p xmlns:a="http://schemas.openxmlformats.org/drawingml/2006/main">
            <a:r>
              <a:rPr sz="1500">
                <a:solidFill>
                  <a:srgbClr val="181818"/>
                </a:solidFill>
                <a:latin typeface="Inter"/>
                <a:ea typeface="Inter"/>
                <a:cs typeface="Inter"/>
              </a:rPr>
              <a:t>then dissolves</a:t>
            </a:r>
          </a:p>
        </p:txBody>
      </p:sp>
      <p:sp>
        <p:nvSpPr>
          <p:cNvPr id="19" name="">
            <a:extLst xmlns:a="http://schemas.openxmlformats.org/drawingml/2006/main">
              <a:ext uri="{FF2B5EF4-FFF2-40B4-BE49-F238E27FC236}">
                <a16:creationId xmlns:a16="http://schemas.microsoft.com/office/drawing/2014/main" id="{A752E7C8-CCF2-4A9A-BC59-D9E8C149EAA9}"/>
              </a:ext>
            </a:extLst>
          </p:cNvPr>
          <p:cNvSpPr>
            <a:spLocks xmlns:a="http://schemas.openxmlformats.org/drawingml/2006/main" noGrp="1"/>
          </p:cNvSpPr>
          <p:nvPr/>
        </p:nvSpPr>
        <p:spPr>
          <a:xfrm xmlns:a="http://schemas.openxmlformats.org/drawingml/2006/main">
            <a:off x="8172450" y="3276600"/>
            <a:ext cx="247650" cy="19050"/>
          </a:xfrm>
          <a:prstGeom xmlns:a="http://schemas.openxmlformats.org/drawingml/2006/main" prst="rect">
            <a:avLst/>
          </a:prstGeom>
          <a:solidFill xmlns:a="http://schemas.openxmlformats.org/drawingml/2006/main">
            <a:srgbClr val="EDEDED"/>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AF3D1E59-C6AB-4A3F-A93A-6B89C6293CAE}"/>
              </a:ext>
            </a:extLst>
          </p:cNvPr>
          <p:cNvSpPr>
            <a:spLocks xmlns:a="http://schemas.openxmlformats.org/drawingml/2006/main" noGrp="1"/>
          </p:cNvSpPr>
          <p:nvPr/>
        </p:nvSpPr>
        <p:spPr>
          <a:xfrm xmlns:a="http://schemas.openxmlformats.org/drawingml/2006/main">
            <a:off x="8401050" y="3238500"/>
            <a:ext cx="133350" cy="95250"/>
          </a:xfrm>
          <a:prstGeom xmlns:a="http://schemas.openxmlformats.org/drawingml/2006/main" prst="triangle">
            <a:avLst/>
          </a:prstGeom>
          <a:solidFill xmlns:a="http://schemas.openxmlformats.org/drawingml/2006/main">
            <a:srgbClr val="EDEDED"/>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A61D269C-48C1-48B6-8EAC-A25149842AAE}"/>
              </a:ext>
            </a:extLst>
          </p:cNvPr>
          <p:cNvSpPr>
            <a:spLocks xmlns:a="http://schemas.openxmlformats.org/drawingml/2006/main" noGrp="1"/>
          </p:cNvSpPr>
          <p:nvPr/>
        </p:nvSpPr>
        <p:spPr>
          <a:xfrm xmlns:a="http://schemas.openxmlformats.org/drawingml/2006/main">
            <a:off x="8553450" y="2152650"/>
            <a:ext cx="2095500" cy="230505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EDEDED"/>
            </a:solidFill>
          </a:ln>
        </p:spPr>
      </p:sp>
      <p:sp>
        <p:nvSpPr>
          <p:cNvPr id="22" name="">
            <a:extLst xmlns:a="http://schemas.openxmlformats.org/drawingml/2006/main">
              <a:ext uri="{FF2B5EF4-FFF2-40B4-BE49-F238E27FC236}">
                <a16:creationId xmlns:a16="http://schemas.microsoft.com/office/drawing/2014/main" id="{2A6F7FDE-6C9A-4AA3-B389-D1ADDB2D77CF}"/>
              </a:ext>
            </a:extLst>
          </p:cNvPr>
          <p:cNvSpPr>
            <a:spLocks xmlns:a="http://schemas.openxmlformats.org/drawingml/2006/main" noGrp="1"/>
          </p:cNvSpPr>
          <p:nvPr/>
        </p:nvSpPr>
        <p:spPr>
          <a:xfrm xmlns:a="http://schemas.openxmlformats.org/drawingml/2006/main">
            <a:off x="8763000" y="2419350"/>
            <a:ext cx="152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800" b="1">
                <a:solidFill>
                  <a:srgbClr val="181818"/>
                </a:solidFill>
                <a:latin typeface="Inter"/>
                <a:ea typeface="Inter"/>
                <a:cs typeface="Inter"/>
              </a:rPr>
              <a:t>Traceable output</a:t>
            </a:r>
          </a:p>
        </p:txBody>
      </p:sp>
      <p:sp>
        <p:nvSpPr>
          <p:cNvPr id="23" name="">
            <a:extLst xmlns:a="http://schemas.openxmlformats.org/drawingml/2006/main">
              <a:ext uri="{FF2B5EF4-FFF2-40B4-BE49-F238E27FC236}">
                <a16:creationId xmlns:a16="http://schemas.microsoft.com/office/drawing/2014/main" id="{F129D3F2-9309-4B23-B1F3-E28B7A927096}"/>
              </a:ext>
            </a:extLst>
          </p:cNvPr>
          <p:cNvSpPr>
            <a:spLocks xmlns:a="http://schemas.openxmlformats.org/drawingml/2006/main" noGrp="1"/>
          </p:cNvSpPr>
          <p:nvPr/>
        </p:nvSpPr>
        <p:spPr>
          <a:xfrm xmlns:a="http://schemas.openxmlformats.org/drawingml/2006/main">
            <a:off x="8763000" y="2895600"/>
            <a:ext cx="1619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500">
                <a:solidFill>
                  <a:srgbClr val="181818"/>
                </a:solidFill>
                <a:latin typeface="Inter"/>
                <a:ea typeface="Inter"/>
                <a:cs typeface="Inter"/>
              </a:rPr>
              <a:t>assumption diff</a:t>
            </a:r>
          </a:p>
          <a:p xmlns:a="http://schemas.openxmlformats.org/drawingml/2006/main">
            <a:r>
              <a:rPr sz="1500">
                <a:solidFill>
                  <a:srgbClr val="181818"/>
                </a:solidFill>
                <a:latin typeface="Inter"/>
                <a:ea typeface="Inter"/>
                <a:cs typeface="Inter"/>
              </a:rPr>
              <a:t>provenance</a:t>
            </a:r>
          </a:p>
          <a:p xmlns:a="http://schemas.openxmlformats.org/drawingml/2006/main">
            <a:r>
              <a:rPr sz="1500">
                <a:solidFill>
                  <a:srgbClr val="181818"/>
                </a:solidFill>
                <a:latin typeface="Inter"/>
                <a:ea typeface="Inter"/>
                <a:cs typeface="Inter"/>
              </a:rPr>
              <a:t>human-owned brief</a:t>
            </a:r>
          </a:p>
        </p:txBody>
      </p:sp>
      <p:sp>
        <p:nvSpPr>
          <p:cNvPr id="24" name="">
            <a:extLst xmlns:a="http://schemas.openxmlformats.org/drawingml/2006/main">
              <a:ext uri="{FF2B5EF4-FFF2-40B4-BE49-F238E27FC236}">
                <a16:creationId xmlns:a16="http://schemas.microsoft.com/office/drawing/2014/main" id="{DD67A836-CB74-4966-A7ED-B4C96B8D83C5}"/>
              </a:ext>
            </a:extLst>
          </p:cNvPr>
          <p:cNvSpPr>
            <a:spLocks xmlns:a="http://schemas.openxmlformats.org/drawingml/2006/main" noGrp="1"/>
          </p:cNvSpPr>
          <p:nvPr/>
        </p:nvSpPr>
        <p:spPr>
          <a:xfrm xmlns:a="http://schemas.openxmlformats.org/drawingml/2006/main">
            <a:off x="914400" y="4572000"/>
            <a:ext cx="9715500" cy="323850"/>
          </a:xfrm>
          <a:prstGeom xmlns:a="http://schemas.openxmlformats.org/drawingml/2006/main" prst="roundRect">
            <a:avLst>
              <a:gd name="adj" fmla="val 23529"/>
            </a:avLst>
          </a:prstGeom>
          <a:solidFill xmlns:a="http://schemas.openxmlformats.org/drawingml/2006/main">
            <a:srgbClr val="F9F9F9"/>
          </a:solidFill>
          <a:ln xmlns:a="http://schemas.openxmlformats.org/drawingml/2006/main" w="9525">
            <a:solidFill>
              <a:srgbClr val="EDEDED"/>
            </a:solidFill>
          </a:ln>
        </p:spPr>
      </p:sp>
      <p:sp>
        <p:nvSpPr>
          <p:cNvPr id="25" name="">
            <a:extLst xmlns:a="http://schemas.openxmlformats.org/drawingml/2006/main">
              <a:ext uri="{FF2B5EF4-FFF2-40B4-BE49-F238E27FC236}">
                <a16:creationId xmlns:a16="http://schemas.microsoft.com/office/drawing/2014/main" id="{991E8C57-7B39-4D85-AE2C-B4B39C7DD635}"/>
              </a:ext>
            </a:extLst>
          </p:cNvPr>
          <p:cNvSpPr>
            <a:spLocks xmlns:a="http://schemas.openxmlformats.org/drawingml/2006/main" noGrp="1"/>
          </p:cNvSpPr>
          <p:nvPr/>
        </p:nvSpPr>
        <p:spPr>
          <a:xfrm xmlns:a="http://schemas.openxmlformats.org/drawingml/2006/main">
            <a:off x="1066800" y="4648200"/>
            <a:ext cx="9448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975" b="1">
                <a:solidFill>
                  <a:srgbClr val="282828"/>
                </a:solidFill>
                <a:latin typeface="Inter"/>
                <a:ea typeface="Inter"/>
                <a:cs typeface="Inter"/>
              </a:rPr>
              <a:t>58 tests passing  ·  pydantic v2 contracts  ·  SQLiteSession persistence  ·  Block Kit digest  ·  assumption-aware vs naive baseline</a:t>
            </a:r>
          </a:p>
        </p:txBody>
      </p:sp>
      <p:sp>
        <p:nvSpPr>
          <p:cNvPr id="26" name="">
            <a:extLst xmlns:a="http://schemas.openxmlformats.org/drawingml/2006/main">
              <a:ext uri="{FF2B5EF4-FFF2-40B4-BE49-F238E27FC236}">
                <a16:creationId xmlns:a16="http://schemas.microsoft.com/office/drawing/2014/main" id="{08450D1C-90D2-433C-AD68-D0F65AF2B0DC}"/>
              </a:ext>
            </a:extLst>
          </p:cNvPr>
          <p:cNvSpPr>
            <a:spLocks xmlns:a="http://schemas.openxmlformats.org/drawingml/2006/main" noGrp="1"/>
          </p:cNvSpPr>
          <p:nvPr/>
        </p:nvSpPr>
        <p:spPr>
          <a:xfrm xmlns:a="http://schemas.openxmlformats.org/drawingml/2006/main">
            <a:off x="914400" y="5029200"/>
            <a:ext cx="9715500" cy="609600"/>
          </a:xfrm>
          <a:prstGeom xmlns:a="http://schemas.openxmlformats.org/drawingml/2006/main" prst="roundRect">
            <a:avLst>
              <a:gd name="adj" fmla="val 12500"/>
            </a:avLst>
          </a:prstGeom>
          <a:solidFill xmlns:a="http://schemas.openxmlformats.org/drawingml/2006/main">
            <a:srgbClr val="17191A"/>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C34E554F-BE29-4C18-A16B-026F74DE096F}"/>
              </a:ext>
            </a:extLst>
          </p:cNvPr>
          <p:cNvSpPr>
            <a:spLocks xmlns:a="http://schemas.openxmlformats.org/drawingml/2006/main" noGrp="1"/>
          </p:cNvSpPr>
          <p:nvPr/>
        </p:nvSpPr>
        <p:spPr>
          <a:xfrm xmlns:a="http://schemas.openxmlformats.org/drawingml/2006/main">
            <a:off x="1181100" y="5181600"/>
            <a:ext cx="2095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975" b="1">
                <a:solidFill>
                  <a:srgbClr val="BFC5C9"/>
                </a:solidFill>
                <a:latin typeface="Inter"/>
                <a:ea typeface="Inter"/>
                <a:cs typeface="Inter"/>
              </a:rPr>
              <a:t>OpenAI Agents SDK</a:t>
            </a:r>
          </a:p>
        </p:txBody>
      </p:sp>
      <p:sp>
        <p:nvSpPr>
          <p:cNvPr id="28" name="">
            <a:extLst xmlns:a="http://schemas.openxmlformats.org/drawingml/2006/main">
              <a:ext uri="{FF2B5EF4-FFF2-40B4-BE49-F238E27FC236}">
                <a16:creationId xmlns:a16="http://schemas.microsoft.com/office/drawing/2014/main" id="{5E1BEA9E-D5FB-4EF1-84DD-60640C960848}"/>
              </a:ext>
            </a:extLst>
          </p:cNvPr>
          <p:cNvSpPr>
            <a:spLocks xmlns:a="http://schemas.openxmlformats.org/drawingml/2006/main" noGrp="1"/>
          </p:cNvSpPr>
          <p:nvPr/>
        </p:nvSpPr>
        <p:spPr>
          <a:xfrm xmlns:a="http://schemas.openxmlformats.org/drawingml/2006/main">
            <a:off x="3429000" y="5105400"/>
            <a:ext cx="666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650" b="1">
                <a:solidFill>
                  <a:srgbClr val="FFFFFF"/>
                </a:solidFill>
                <a:latin typeface="Inter"/>
                <a:ea typeface="Inter"/>
                <a:cs typeface="Inter"/>
              </a:rPr>
              <a:t>Persistent context + ephemeral orchestration is the product pattern.</a:t>
            </a:r>
          </a:p>
        </p:txBody>
      </p:sp>
    </p:spTree>
    <p:extLst>
      <p:ext uri="{BB962C8B-B14F-4D97-AF65-F5344CB8AC3E}">
        <p14:creationId xmlns:p14="http://schemas.microsoft.com/office/powerpoint/2010/main" val="60046383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 name=""/>
          <p:cNvPicPr>
            <a:picLocks xmlns:a="http://schemas.openxmlformats.org/drawingml/2006/main" noChangeAspect="1"/>
          </p:cNvPicPr>
          <p:nvPr/>
        </p:nvPicPr>
        <p:blipFill>
          <a:blip xmlns:r="http://schemas.openxmlformats.org/officeDocument/2006/relationships" xmlns:a="http://schemas.openxmlformats.org/drawingml/2006/main" r:embed="R12fd535eb42b484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B1F4748-0BC5-457D-B408-949A6D614AFE}"/>
              </a:ext>
            </a:extLst>
          </p:cNvPr>
          <p:cNvSpPr>
            <a:spLocks xmlns:a="http://schemas.openxmlformats.org/drawingml/2006/main" noGrp="1"/>
          </p:cNvSpPr>
          <p:nvPr/>
        </p:nvSpPr>
        <p:spPr>
          <a:xfrm xmlns:a="http://schemas.openxmlformats.org/drawingml/2006/main">
            <a:off x="685800" y="4191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19050" rIns="0" bIns="0">
            <a:noAutofit/>
          </a:bodyPr>
          <a:lstStyle xmlns:a="http://schemas.openxmlformats.org/drawingml/2006/main"/>
          <a:p xmlns:a="http://schemas.openxmlformats.org/drawingml/2006/main">
            <a:r>
              <a:rPr sz="975" b="1">
                <a:solidFill>
                  <a:srgbClr val="5D605E"/>
                </a:solidFill>
                <a:latin typeface="Inter"/>
                <a:ea typeface="Inter"/>
                <a:cs typeface="Inter"/>
              </a:rPr>
              <a:t>USE OF CODEX</a:t>
            </a:r>
          </a:p>
        </p:txBody>
      </p:sp>
      <p:sp>
        <p:nvSpPr>
          <p:cNvPr id="3" name="">
            <a:extLst xmlns:a="http://schemas.openxmlformats.org/drawingml/2006/main">
              <a:ext uri="{FF2B5EF4-FFF2-40B4-BE49-F238E27FC236}">
                <a16:creationId xmlns:a16="http://schemas.microsoft.com/office/drawing/2014/main" id="{6C523A4A-4FC1-44F0-A6E8-894F1667E9A9}"/>
              </a:ext>
            </a:extLst>
          </p:cNvPr>
          <p:cNvSpPr>
            <a:spLocks xmlns:a="http://schemas.openxmlformats.org/drawingml/2006/main" noGrp="1"/>
          </p:cNvSpPr>
          <p:nvPr/>
        </p:nvSpPr>
        <p:spPr>
          <a:xfrm xmlns:a="http://schemas.openxmlformats.org/drawingml/2006/main">
            <a:off x="666750" y="723900"/>
            <a:ext cx="8763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3000">
                <a:solidFill>
                  <a:srgbClr val="181818"/>
                </a:solidFill>
                <a:latin typeface="Inter"/>
                <a:ea typeface="Inter"/>
                <a:cs typeface="Inter"/>
              </a:rPr>
              <a:t>Codex shaped the product and</a:t>
            </a:r>
          </a:p>
          <a:p xmlns:a="http://schemas.openxmlformats.org/drawingml/2006/main">
            <a:r>
              <a:rPr sz="3000">
                <a:solidFill>
                  <a:srgbClr val="181818"/>
                </a:solidFill>
                <a:latin typeface="Inter"/>
                <a:ea typeface="Inter"/>
                <a:cs typeface="Inter"/>
              </a:rPr>
              <a:t>wrote the build.</a:t>
            </a:r>
          </a:p>
        </p:txBody>
      </p:sp>
      <p:sp>
        <p:nvSpPr>
          <p:cNvPr id="4" name="">
            <a:extLst xmlns:a="http://schemas.openxmlformats.org/drawingml/2006/main">
              <a:ext uri="{FF2B5EF4-FFF2-40B4-BE49-F238E27FC236}">
                <a16:creationId xmlns:a16="http://schemas.microsoft.com/office/drawing/2014/main" id="{0B55B1FF-370E-4990-9136-812ED5D82300}"/>
              </a:ext>
            </a:extLst>
          </p:cNvPr>
          <p:cNvSpPr>
            <a:spLocks xmlns:a="http://schemas.openxmlformats.org/drawingml/2006/main" noGrp="1"/>
          </p:cNvSpPr>
          <p:nvPr/>
        </p:nvSpPr>
        <p:spPr>
          <a:xfrm xmlns:a="http://schemas.openxmlformats.org/drawingml/2006/main">
            <a:off x="685800" y="6515100"/>
            <a:ext cx="723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750">
                <a:solidFill>
                  <a:srgbClr val="5D605E"/>
                </a:solidFill>
                <a:latin typeface="Inter"/>
                <a:ea typeface="Inter"/>
                <a:cs typeface="Inter"/>
              </a:rPr>
              <a:t>Sources: AGENTS.md, docs/pitch-script.md</a:t>
            </a:r>
          </a:p>
        </p:txBody>
      </p:sp>
      <p:sp>
        <p:nvSpPr>
          <p:cNvPr id="5" name="">
            <a:extLst xmlns:a="http://schemas.openxmlformats.org/drawingml/2006/main">
              <a:ext uri="{FF2B5EF4-FFF2-40B4-BE49-F238E27FC236}">
                <a16:creationId xmlns:a16="http://schemas.microsoft.com/office/drawing/2014/main" id="{04618A75-2047-409A-8661-0EC5C646677A}"/>
              </a:ext>
            </a:extLst>
          </p:cNvPr>
          <p:cNvSpPr>
            <a:spLocks xmlns:a="http://schemas.openxmlformats.org/drawingml/2006/main" noGrp="1"/>
          </p:cNvSpPr>
          <p:nvPr/>
        </p:nvSpPr>
        <p:spPr>
          <a:xfrm xmlns:a="http://schemas.openxmlformats.org/drawingml/2006/main">
            <a:off x="11239500" y="6515100"/>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750">
                <a:solidFill>
                  <a:srgbClr val="5D605E"/>
                </a:solidFill>
                <a:latin typeface="Inter"/>
                <a:ea typeface="Inter"/>
                <a:cs typeface="Inter"/>
              </a:defRPr>
            </a:pPr>
            <a:r>
              <a:rPr sz="750">
                <a:solidFill>
                  <a:srgbClr val="5D605E"/>
                </a:solidFill>
                <a:latin typeface="Inter"/>
                <a:ea typeface="Inter"/>
                <a:cs typeface="Inter"/>
              </a:rPr>
              <a:t>07</a:t>
            </a:r>
          </a:p>
        </p:txBody>
      </p:sp>
      <p:sp>
        <p:nvSpPr>
          <p:cNvPr id="6" name="">
            <a:extLst xmlns:a="http://schemas.openxmlformats.org/drawingml/2006/main">
              <a:ext uri="{FF2B5EF4-FFF2-40B4-BE49-F238E27FC236}">
                <a16:creationId xmlns:a16="http://schemas.microsoft.com/office/drawing/2014/main" id="{8445C2C3-D98B-43D1-A91C-5B39C6D60323}"/>
              </a:ext>
            </a:extLst>
          </p:cNvPr>
          <p:cNvSpPr>
            <a:spLocks xmlns:a="http://schemas.openxmlformats.org/drawingml/2006/main" noGrp="1"/>
          </p:cNvSpPr>
          <p:nvPr/>
        </p:nvSpPr>
        <p:spPr>
          <a:xfrm xmlns:a="http://schemas.openxmlformats.org/drawingml/2006/main">
            <a:off x="838200" y="2247900"/>
            <a:ext cx="4762500" cy="1314450"/>
          </a:xfrm>
          <a:prstGeom xmlns:a="http://schemas.openxmlformats.org/drawingml/2006/main" prst="roundRect">
            <a:avLst>
              <a:gd name="adj" fmla="val 5797"/>
            </a:avLst>
          </a:prstGeom>
          <a:solidFill xmlns:a="http://schemas.openxmlformats.org/drawingml/2006/main">
            <a:srgbClr val="FFFFFF"/>
          </a:solidFill>
          <a:ln xmlns:a="http://schemas.openxmlformats.org/drawingml/2006/main" w="9525">
            <a:solidFill>
              <a:srgbClr val="EDEDED"/>
            </a:solidFill>
          </a:ln>
        </p:spPr>
      </p:sp>
      <p:sp>
        <p:nvSpPr>
          <p:cNvPr id="7" name="">
            <a:extLst xmlns:a="http://schemas.openxmlformats.org/drawingml/2006/main">
              <a:ext uri="{FF2B5EF4-FFF2-40B4-BE49-F238E27FC236}">
                <a16:creationId xmlns:a16="http://schemas.microsoft.com/office/drawing/2014/main" id="{E90D2AAD-983C-4C07-A0A8-41D2BFADE0F0}"/>
              </a:ext>
            </a:extLst>
          </p:cNvPr>
          <p:cNvSpPr>
            <a:spLocks xmlns:a="http://schemas.openxmlformats.org/drawingml/2006/main" noGrp="1"/>
          </p:cNvSpPr>
          <p:nvPr/>
        </p:nvSpPr>
        <p:spPr>
          <a:xfrm xmlns:a="http://schemas.openxmlformats.org/drawingml/2006/main">
            <a:off x="1085850" y="2457450"/>
            <a:ext cx="426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650" b="1">
                <a:solidFill>
                  <a:srgbClr val="181818"/>
                </a:solidFill>
                <a:latin typeface="Inter"/>
                <a:ea typeface="Inter"/>
                <a:cs typeface="Inter"/>
              </a:rPr>
              <a:t>Scenario pivot</a:t>
            </a:r>
          </a:p>
        </p:txBody>
      </p:sp>
      <p:sp>
        <p:nvSpPr>
          <p:cNvPr id="8" name="">
            <a:extLst xmlns:a="http://schemas.openxmlformats.org/drawingml/2006/main">
              <a:ext uri="{FF2B5EF4-FFF2-40B4-BE49-F238E27FC236}">
                <a16:creationId xmlns:a16="http://schemas.microsoft.com/office/drawing/2014/main" id="{EE8B45F5-205B-44D9-89A0-22F286B5BABB}"/>
              </a:ext>
            </a:extLst>
          </p:cNvPr>
          <p:cNvSpPr>
            <a:spLocks xmlns:a="http://schemas.openxmlformats.org/drawingml/2006/main" noGrp="1"/>
          </p:cNvSpPr>
          <p:nvPr/>
        </p:nvSpPr>
        <p:spPr>
          <a:xfrm xmlns:a="http://schemas.openxmlformats.org/drawingml/2006/main">
            <a:off x="1085850" y="2857500"/>
            <a:ext cx="4267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350">
                <a:solidFill>
                  <a:srgbClr val="282828"/>
                </a:solidFill>
                <a:latin typeface="Inter"/>
                <a:ea typeface="Inter"/>
                <a:cs typeface="Inter"/>
              </a:rPr>
              <a:t>Reframed the project into a Slack-native pre-meeting crux finder.</a:t>
            </a:r>
          </a:p>
        </p:txBody>
      </p:sp>
      <p:sp>
        <p:nvSpPr>
          <p:cNvPr id="9" name="">
            <a:extLst xmlns:a="http://schemas.openxmlformats.org/drawingml/2006/main">
              <a:ext uri="{FF2B5EF4-FFF2-40B4-BE49-F238E27FC236}">
                <a16:creationId xmlns:a16="http://schemas.microsoft.com/office/drawing/2014/main" id="{DD97560D-ADFC-495C-9CEF-63108A66AA76}"/>
              </a:ext>
            </a:extLst>
          </p:cNvPr>
          <p:cNvSpPr>
            <a:spLocks xmlns:a="http://schemas.openxmlformats.org/drawingml/2006/main" noGrp="1"/>
          </p:cNvSpPr>
          <p:nvPr/>
        </p:nvSpPr>
        <p:spPr>
          <a:xfrm xmlns:a="http://schemas.openxmlformats.org/drawingml/2006/main">
            <a:off x="5829300" y="2247900"/>
            <a:ext cx="4762500" cy="1314450"/>
          </a:xfrm>
          <a:prstGeom xmlns:a="http://schemas.openxmlformats.org/drawingml/2006/main" prst="roundRect">
            <a:avLst>
              <a:gd name="adj" fmla="val 5797"/>
            </a:avLst>
          </a:prstGeom>
          <a:solidFill xmlns:a="http://schemas.openxmlformats.org/drawingml/2006/main">
            <a:srgbClr val="FFFFFF"/>
          </a:solidFill>
          <a:ln xmlns:a="http://schemas.openxmlformats.org/drawingml/2006/main" w="9525">
            <a:solidFill>
              <a:srgbClr val="EDEDED"/>
            </a:solidFill>
          </a:ln>
        </p:spPr>
      </p:sp>
      <p:sp>
        <p:nvSpPr>
          <p:cNvPr id="10" name="">
            <a:extLst xmlns:a="http://schemas.openxmlformats.org/drawingml/2006/main">
              <a:ext uri="{FF2B5EF4-FFF2-40B4-BE49-F238E27FC236}">
                <a16:creationId xmlns:a16="http://schemas.microsoft.com/office/drawing/2014/main" id="{C60EAAE5-7199-4073-BA9C-659AD235A982}"/>
              </a:ext>
            </a:extLst>
          </p:cNvPr>
          <p:cNvSpPr>
            <a:spLocks xmlns:a="http://schemas.openxmlformats.org/drawingml/2006/main" noGrp="1"/>
          </p:cNvSpPr>
          <p:nvPr/>
        </p:nvSpPr>
        <p:spPr>
          <a:xfrm xmlns:a="http://schemas.openxmlformats.org/drawingml/2006/main">
            <a:off x="6076950" y="2457450"/>
            <a:ext cx="426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650" b="1">
                <a:solidFill>
                  <a:srgbClr val="181818"/>
                </a:solidFill>
                <a:latin typeface="Inter"/>
                <a:ea typeface="Inter"/>
                <a:cs typeface="Inter"/>
              </a:rPr>
              <a:t>Orchestrator + Slack path</a:t>
            </a:r>
          </a:p>
        </p:txBody>
      </p:sp>
      <p:sp>
        <p:nvSpPr>
          <p:cNvPr id="11" name="">
            <a:extLst xmlns:a="http://schemas.openxmlformats.org/drawingml/2006/main">
              <a:ext uri="{FF2B5EF4-FFF2-40B4-BE49-F238E27FC236}">
                <a16:creationId xmlns:a16="http://schemas.microsoft.com/office/drawing/2014/main" id="{19F8F2B0-C578-48CB-A552-D126A0D7CD6A}"/>
              </a:ext>
            </a:extLst>
          </p:cNvPr>
          <p:cNvSpPr>
            <a:spLocks xmlns:a="http://schemas.openxmlformats.org/drawingml/2006/main" noGrp="1"/>
          </p:cNvSpPr>
          <p:nvPr/>
        </p:nvSpPr>
        <p:spPr>
          <a:xfrm xmlns:a="http://schemas.openxmlformats.org/drawingml/2006/main">
            <a:off x="6076950" y="2857500"/>
            <a:ext cx="4267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350">
                <a:solidFill>
                  <a:srgbClr val="282828"/>
                </a:solidFill>
                <a:latin typeface="Inter"/>
                <a:ea typeface="Inter"/>
                <a:cs typeface="Inter"/>
              </a:rPr>
              <a:t>Built the transient orchestrator and free-form DM routing on the OpenAI Agents SDK.</a:t>
            </a:r>
          </a:p>
        </p:txBody>
      </p:sp>
      <p:sp>
        <p:nvSpPr>
          <p:cNvPr id="12" name="">
            <a:extLst xmlns:a="http://schemas.openxmlformats.org/drawingml/2006/main">
              <a:ext uri="{FF2B5EF4-FFF2-40B4-BE49-F238E27FC236}">
                <a16:creationId xmlns:a16="http://schemas.microsoft.com/office/drawing/2014/main" id="{74A3CAE7-27A4-4777-809A-66011EA27178}"/>
              </a:ext>
            </a:extLst>
          </p:cNvPr>
          <p:cNvSpPr>
            <a:spLocks xmlns:a="http://schemas.openxmlformats.org/drawingml/2006/main" noGrp="1"/>
          </p:cNvSpPr>
          <p:nvPr/>
        </p:nvSpPr>
        <p:spPr>
          <a:xfrm xmlns:a="http://schemas.openxmlformats.org/drawingml/2006/main">
            <a:off x="838200" y="3714750"/>
            <a:ext cx="4762500" cy="1314450"/>
          </a:xfrm>
          <a:prstGeom xmlns:a="http://schemas.openxmlformats.org/drawingml/2006/main" prst="roundRect">
            <a:avLst>
              <a:gd name="adj" fmla="val 5797"/>
            </a:avLst>
          </a:prstGeom>
          <a:solidFill xmlns:a="http://schemas.openxmlformats.org/drawingml/2006/main">
            <a:srgbClr val="FFFFFF"/>
          </a:solidFill>
          <a:ln xmlns:a="http://schemas.openxmlformats.org/drawingml/2006/main" w="9525">
            <a:solidFill>
              <a:srgbClr val="EDEDED"/>
            </a:solidFill>
          </a:ln>
        </p:spPr>
      </p:sp>
      <p:sp>
        <p:nvSpPr>
          <p:cNvPr id="13" name="">
            <a:extLst xmlns:a="http://schemas.openxmlformats.org/drawingml/2006/main">
              <a:ext uri="{FF2B5EF4-FFF2-40B4-BE49-F238E27FC236}">
                <a16:creationId xmlns:a16="http://schemas.microsoft.com/office/drawing/2014/main" id="{61B0AB8C-15FE-41D0-9263-1DABE349472B}"/>
              </a:ext>
            </a:extLst>
          </p:cNvPr>
          <p:cNvSpPr>
            <a:spLocks xmlns:a="http://schemas.openxmlformats.org/drawingml/2006/main" noGrp="1"/>
          </p:cNvSpPr>
          <p:nvPr/>
        </p:nvSpPr>
        <p:spPr>
          <a:xfrm xmlns:a="http://schemas.openxmlformats.org/drawingml/2006/main">
            <a:off x="1085850" y="3924300"/>
            <a:ext cx="426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650" b="1">
                <a:solidFill>
                  <a:srgbClr val="181818"/>
                </a:solidFill>
                <a:latin typeface="Inter"/>
                <a:ea typeface="Inter"/>
                <a:cs typeface="Inter"/>
              </a:rPr>
              <a:t>Docs in sync with code</a:t>
            </a:r>
          </a:p>
        </p:txBody>
      </p:sp>
      <p:sp>
        <p:nvSpPr>
          <p:cNvPr id="14" name="">
            <a:extLst xmlns:a="http://schemas.openxmlformats.org/drawingml/2006/main">
              <a:ext uri="{FF2B5EF4-FFF2-40B4-BE49-F238E27FC236}">
                <a16:creationId xmlns:a16="http://schemas.microsoft.com/office/drawing/2014/main" id="{EC5B0689-597E-4B8A-9273-61006849CDFB}"/>
              </a:ext>
            </a:extLst>
          </p:cNvPr>
          <p:cNvSpPr>
            <a:spLocks xmlns:a="http://schemas.openxmlformats.org/drawingml/2006/main" noGrp="1"/>
          </p:cNvSpPr>
          <p:nvPr/>
        </p:nvSpPr>
        <p:spPr>
          <a:xfrm xmlns:a="http://schemas.openxmlformats.org/drawingml/2006/main">
            <a:off x="1085850" y="4324350"/>
            <a:ext cx="4267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350">
                <a:solidFill>
                  <a:srgbClr val="282828"/>
                </a:solidFill>
                <a:latin typeface="Inter"/>
                <a:ea typeface="Inter"/>
                <a:cs typeface="Inter"/>
              </a:rPr>
              <a:t>Kept README, specs, and implementation aligned as the design changed.</a:t>
            </a:r>
          </a:p>
        </p:txBody>
      </p:sp>
      <p:sp>
        <p:nvSpPr>
          <p:cNvPr id="15" name="">
            <a:extLst xmlns:a="http://schemas.openxmlformats.org/drawingml/2006/main">
              <a:ext uri="{FF2B5EF4-FFF2-40B4-BE49-F238E27FC236}">
                <a16:creationId xmlns:a16="http://schemas.microsoft.com/office/drawing/2014/main" id="{7763C3F5-DC81-4A23-95C0-1638B80F017A}"/>
              </a:ext>
            </a:extLst>
          </p:cNvPr>
          <p:cNvSpPr>
            <a:spLocks xmlns:a="http://schemas.openxmlformats.org/drawingml/2006/main" noGrp="1"/>
          </p:cNvSpPr>
          <p:nvPr/>
        </p:nvSpPr>
        <p:spPr>
          <a:xfrm xmlns:a="http://schemas.openxmlformats.org/drawingml/2006/main">
            <a:off x="5829300" y="3714750"/>
            <a:ext cx="4762500" cy="1314450"/>
          </a:xfrm>
          <a:prstGeom xmlns:a="http://schemas.openxmlformats.org/drawingml/2006/main" prst="roundRect">
            <a:avLst>
              <a:gd name="adj" fmla="val 5797"/>
            </a:avLst>
          </a:prstGeom>
          <a:solidFill xmlns:a="http://schemas.openxmlformats.org/drawingml/2006/main">
            <a:srgbClr val="F3F3F3"/>
          </a:solidFill>
          <a:ln xmlns:a="http://schemas.openxmlformats.org/drawingml/2006/main" w="9525">
            <a:solidFill>
              <a:srgbClr val="282828"/>
            </a:solidFill>
          </a:ln>
        </p:spPr>
      </p:sp>
      <p:sp>
        <p:nvSpPr>
          <p:cNvPr id="16" name="">
            <a:extLst xmlns:a="http://schemas.openxmlformats.org/drawingml/2006/main">
              <a:ext uri="{FF2B5EF4-FFF2-40B4-BE49-F238E27FC236}">
                <a16:creationId xmlns:a16="http://schemas.microsoft.com/office/drawing/2014/main" id="{6683D1BF-C67A-4CFA-B732-F0F71BE8EF30}"/>
              </a:ext>
            </a:extLst>
          </p:cNvPr>
          <p:cNvSpPr>
            <a:spLocks xmlns:a="http://schemas.openxmlformats.org/drawingml/2006/main" noGrp="1"/>
          </p:cNvSpPr>
          <p:nvPr/>
        </p:nvSpPr>
        <p:spPr>
          <a:xfrm xmlns:a="http://schemas.openxmlformats.org/drawingml/2006/main">
            <a:off x="6076950" y="3924300"/>
            <a:ext cx="426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650" b="1">
                <a:solidFill>
                  <a:srgbClr val="181818"/>
                </a:solidFill>
                <a:latin typeface="Inter"/>
                <a:ea typeface="Inter"/>
                <a:cs typeface="Inter"/>
              </a:rPr>
              <a:t>Tests + hardening</a:t>
            </a:r>
          </a:p>
        </p:txBody>
      </p:sp>
      <p:sp>
        <p:nvSpPr>
          <p:cNvPr id="17" name="">
            <a:extLst xmlns:a="http://schemas.openxmlformats.org/drawingml/2006/main">
              <a:ext uri="{FF2B5EF4-FFF2-40B4-BE49-F238E27FC236}">
                <a16:creationId xmlns:a16="http://schemas.microsoft.com/office/drawing/2014/main" id="{089D3B8C-E426-472E-9712-E4B37303152D}"/>
              </a:ext>
            </a:extLst>
          </p:cNvPr>
          <p:cNvSpPr>
            <a:spLocks xmlns:a="http://schemas.openxmlformats.org/drawingml/2006/main" noGrp="1"/>
          </p:cNvSpPr>
          <p:nvPr/>
        </p:nvSpPr>
        <p:spPr>
          <a:xfrm xmlns:a="http://schemas.openxmlformats.org/drawingml/2006/main">
            <a:off x="6076950" y="4324350"/>
            <a:ext cx="4267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350">
                <a:solidFill>
                  <a:srgbClr val="282828"/>
                </a:solidFill>
                <a:latin typeface="Inter"/>
                <a:ea typeface="Inter"/>
                <a:cs typeface="Inter"/>
              </a:rPr>
              <a:t>Wrote 58 deterministic offline tests and hardened the demo fallback.</a:t>
            </a:r>
          </a:p>
        </p:txBody>
      </p:sp>
      <p:sp>
        <p:nvSpPr>
          <p:cNvPr id="18" name="">
            <a:extLst xmlns:a="http://schemas.openxmlformats.org/drawingml/2006/main">
              <a:ext uri="{FF2B5EF4-FFF2-40B4-BE49-F238E27FC236}">
                <a16:creationId xmlns:a16="http://schemas.microsoft.com/office/drawing/2014/main" id="{527AB77B-BD01-429B-BB17-22001B8F69DC}"/>
              </a:ext>
            </a:extLst>
          </p:cNvPr>
          <p:cNvSpPr>
            <a:spLocks xmlns:a="http://schemas.openxmlformats.org/drawingml/2006/main" noGrp="1"/>
          </p:cNvSpPr>
          <p:nvPr/>
        </p:nvSpPr>
        <p:spPr>
          <a:xfrm xmlns:a="http://schemas.openxmlformats.org/drawingml/2006/main">
            <a:off x="838200" y="5295900"/>
            <a:ext cx="9753600" cy="590550"/>
          </a:xfrm>
          <a:prstGeom xmlns:a="http://schemas.openxmlformats.org/drawingml/2006/main" prst="roundRect">
            <a:avLst>
              <a:gd name="adj" fmla="val 12903"/>
            </a:avLst>
          </a:prstGeom>
          <a:solidFill xmlns:a="http://schemas.openxmlformats.org/drawingml/2006/main">
            <a:srgbClr val="17191A"/>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35114D75-5D65-472C-8333-B152B17BBF58}"/>
              </a:ext>
            </a:extLst>
          </p:cNvPr>
          <p:cNvSpPr>
            <a:spLocks xmlns:a="http://schemas.openxmlformats.org/drawingml/2006/main" noGrp="1"/>
          </p:cNvSpPr>
          <p:nvPr/>
        </p:nvSpPr>
        <p:spPr>
          <a:xfrm xmlns:a="http://schemas.openxmlformats.org/drawingml/2006/main">
            <a:off x="1143000" y="5505450"/>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975" b="1">
                <a:solidFill>
                  <a:srgbClr val="BFC5C9"/>
                </a:solidFill>
                <a:latin typeface="Inter"/>
                <a:ea typeface="Inter"/>
                <a:cs typeface="Inter"/>
              </a:rPr>
              <a:t>Built with Codex</a:t>
            </a:r>
          </a:p>
        </p:txBody>
      </p:sp>
      <p:sp>
        <p:nvSpPr>
          <p:cNvPr id="20" name="">
            <a:extLst xmlns:a="http://schemas.openxmlformats.org/drawingml/2006/main">
              <a:ext uri="{FF2B5EF4-FFF2-40B4-BE49-F238E27FC236}">
                <a16:creationId xmlns:a16="http://schemas.microsoft.com/office/drawing/2014/main" id="{C7B92C3B-5812-4D10-AD54-F6EEF30B879B}"/>
              </a:ext>
            </a:extLst>
          </p:cNvPr>
          <p:cNvSpPr>
            <a:spLocks xmlns:a="http://schemas.openxmlformats.org/drawingml/2006/main" noGrp="1"/>
          </p:cNvSpPr>
          <p:nvPr/>
        </p:nvSpPr>
        <p:spPr>
          <a:xfrm xmlns:a="http://schemas.openxmlformats.org/drawingml/2006/main">
            <a:off x="2971800" y="5486400"/>
            <a:ext cx="7505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425" b="1">
                <a:solidFill>
                  <a:srgbClr val="FFFFFF"/>
                </a:solidFill>
                <a:latin typeface="Inter"/>
                <a:ea typeface="Inter"/>
                <a:cs typeface="Inter"/>
              </a:rPr>
              <a:t>From scenario pivot to test suite, Codex built alongside — not just autocomplete.</a:t>
            </a:r>
          </a:p>
        </p:txBody>
      </p:sp>
    </p:spTree>
    <p:extLst>
      <p:ext uri="{BB962C8B-B14F-4D97-AF65-F5344CB8AC3E}">
        <p14:creationId xmlns:p14="http://schemas.microsoft.com/office/powerpoint/2010/main" val="126529212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 name=""/>
          <p:cNvPicPr>
            <a:picLocks xmlns:a="http://schemas.openxmlformats.org/drawingml/2006/main" noChangeAspect="1"/>
          </p:cNvPicPr>
          <p:nvPr/>
        </p:nvPicPr>
        <p:blipFill>
          <a:blip xmlns:r="http://schemas.openxmlformats.org/officeDocument/2006/relationships" xmlns:a="http://schemas.openxmlformats.org/drawingml/2006/main" r:embed="Rdaced7f1dbb848c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C3E949E-88BA-4B19-AF13-195378FE682F}"/>
              </a:ext>
            </a:extLst>
          </p:cNvPr>
          <p:cNvSpPr>
            <a:spLocks xmlns:a="http://schemas.openxmlformats.org/drawingml/2006/main" noGrp="1"/>
          </p:cNvSpPr>
          <p:nvPr/>
        </p:nvSpPr>
        <p:spPr>
          <a:xfrm xmlns:a="http://schemas.openxmlformats.org/drawingml/2006/main">
            <a:off x="685800" y="4191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19050" rIns="0" bIns="0">
            <a:noAutofit/>
          </a:bodyPr>
          <a:lstStyle xmlns:a="http://schemas.openxmlformats.org/drawingml/2006/main"/>
          <a:p xmlns:a="http://schemas.openxmlformats.org/drawingml/2006/main">
            <a:r>
              <a:rPr sz="975" b="1">
                <a:solidFill>
                  <a:srgbClr val="5D605E"/>
                </a:solidFill>
                <a:latin typeface="Inter"/>
                <a:ea typeface="Inter"/>
                <a:cs typeface="Inter"/>
              </a:rPr>
              <a:t>CLOSE</a:t>
            </a:r>
          </a:p>
        </p:txBody>
      </p:sp>
      <p:sp>
        <p:nvSpPr>
          <p:cNvPr id="3" name="">
            <a:extLst xmlns:a="http://schemas.openxmlformats.org/drawingml/2006/main">
              <a:ext uri="{FF2B5EF4-FFF2-40B4-BE49-F238E27FC236}">
                <a16:creationId xmlns:a16="http://schemas.microsoft.com/office/drawing/2014/main" id="{134C5EC3-98CC-45E3-843A-B7793315376A}"/>
              </a:ext>
            </a:extLst>
          </p:cNvPr>
          <p:cNvSpPr>
            <a:spLocks xmlns:a="http://schemas.openxmlformats.org/drawingml/2006/main" noGrp="1"/>
          </p:cNvSpPr>
          <p:nvPr/>
        </p:nvSpPr>
        <p:spPr>
          <a:xfrm xmlns:a="http://schemas.openxmlformats.org/drawingml/2006/main">
            <a:off x="666750" y="723900"/>
            <a:ext cx="8763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3000">
                <a:solidFill>
                  <a:srgbClr val="181818"/>
                </a:solidFill>
                <a:latin typeface="Inter"/>
                <a:ea typeface="Inter"/>
                <a:cs typeface="Inter"/>
              </a:rPr>
              <a:t>Mochi catches fake agreement</a:t>
            </a:r>
          </a:p>
          <a:p xmlns:a="http://schemas.openxmlformats.org/drawingml/2006/main">
            <a:r>
              <a:rPr sz="3000">
                <a:solidFill>
                  <a:srgbClr val="181818"/>
                </a:solidFill>
                <a:latin typeface="Inter"/>
                <a:ea typeface="Inter"/>
                <a:cs typeface="Inter"/>
              </a:rPr>
              <a:t>before the hour is gone.</a:t>
            </a:r>
          </a:p>
        </p:txBody>
      </p:sp>
      <p:sp>
        <p:nvSpPr>
          <p:cNvPr id="4" name="">
            <a:extLst xmlns:a="http://schemas.openxmlformats.org/drawingml/2006/main">
              <a:ext uri="{FF2B5EF4-FFF2-40B4-BE49-F238E27FC236}">
                <a16:creationId xmlns:a16="http://schemas.microsoft.com/office/drawing/2014/main" id="{4C2614A4-5194-4BBD-988E-85EE593BB5E7}"/>
              </a:ext>
            </a:extLst>
          </p:cNvPr>
          <p:cNvSpPr>
            <a:spLocks xmlns:a="http://schemas.openxmlformats.org/drawingml/2006/main" noGrp="1"/>
          </p:cNvSpPr>
          <p:nvPr/>
        </p:nvSpPr>
        <p:spPr>
          <a:xfrm xmlns:a="http://schemas.openxmlformats.org/drawingml/2006/main">
            <a:off x="685800" y="6515100"/>
            <a:ext cx="723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rPr sz="750">
                <a:solidFill>
                  <a:srgbClr val="5D605E"/>
                </a:solidFill>
                <a:latin typeface="Inter"/>
                <a:ea typeface="Inter"/>
                <a:cs typeface="Inter"/>
              </a:rPr>
              <a:t>Sources: docs/pitch-script.md, docs/submission-checklist.md</a:t>
            </a:r>
          </a:p>
        </p:txBody>
      </p:sp>
      <p:sp>
        <p:nvSpPr>
          <p:cNvPr id="5" name="">
            <a:extLst xmlns:a="http://schemas.openxmlformats.org/drawingml/2006/main">
              <a:ext uri="{FF2B5EF4-FFF2-40B4-BE49-F238E27FC236}">
                <a16:creationId xmlns:a16="http://schemas.microsoft.com/office/drawing/2014/main" id="{6124821F-C353-4DCF-A1AC-196087C98D2E}"/>
              </a:ext>
            </a:extLst>
          </p:cNvPr>
          <p:cNvSpPr>
            <a:spLocks xmlns:a="http://schemas.openxmlformats.org/drawingml/2006/main" noGrp="1"/>
          </p:cNvSpPr>
          <p:nvPr/>
        </p:nvSpPr>
        <p:spPr>
          <a:xfrm xmlns:a="http://schemas.openxmlformats.org/drawingml/2006/main">
            <a:off x="11239500" y="6515100"/>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750">
                <a:solidFill>
                  <a:srgbClr val="5D605E"/>
                </a:solidFill>
                <a:latin typeface="Inter"/>
                <a:ea typeface="Inter"/>
                <a:cs typeface="Inter"/>
              </a:defRPr>
            </a:pPr>
            <a:r>
              <a:rPr sz="750">
                <a:solidFill>
                  <a:srgbClr val="5D605E"/>
                </a:solidFill>
                <a:latin typeface="Inter"/>
                <a:ea typeface="Inter"/>
                <a:cs typeface="Inter"/>
              </a:rPr>
              <a:t>08</a:t>
            </a:r>
          </a:p>
        </p:txBody>
      </p:sp>
      <p:sp>
        <p:nvSpPr>
          <p:cNvPr id="6" name="">
            <a:extLst xmlns:a="http://schemas.openxmlformats.org/drawingml/2006/main">
              <a:ext uri="{FF2B5EF4-FFF2-40B4-BE49-F238E27FC236}">
                <a16:creationId xmlns:a16="http://schemas.microsoft.com/office/drawing/2014/main" id="{3B8A1C02-63BC-4A15-8FBE-21550EC45D8B}"/>
              </a:ext>
            </a:extLst>
          </p:cNvPr>
          <p:cNvSpPr>
            <a:spLocks xmlns:a="http://schemas.openxmlformats.org/drawingml/2006/main" noGrp="1"/>
          </p:cNvSpPr>
          <p:nvPr/>
        </p:nvSpPr>
        <p:spPr>
          <a:xfrm xmlns:a="http://schemas.openxmlformats.org/drawingml/2006/main">
            <a:off x="876300" y="2038350"/>
            <a:ext cx="59055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2700">
                <a:solidFill>
                  <a:srgbClr val="181818"/>
                </a:solidFill>
                <a:latin typeface="Inter"/>
                <a:ea typeface="Inter"/>
                <a:cs typeface="Inter"/>
              </a:rPr>
              <a:t>Not after-meeting summary.</a:t>
            </a:r>
          </a:p>
          <a:p xmlns:a="http://schemas.openxmlformats.org/drawingml/2006/main">
            <a:r>
              <a:rPr sz="2700">
                <a:solidFill>
                  <a:srgbClr val="181818"/>
                </a:solidFill>
                <a:latin typeface="Inter"/>
                <a:ea typeface="Inter"/>
                <a:cs typeface="Inter"/>
              </a:rPr>
              <a:t>Before-meeting crux.</a:t>
            </a:r>
          </a:p>
          <a:p xmlns:a="http://schemas.openxmlformats.org/drawingml/2006/main">
            <a:r>
              <a:rPr sz="2700">
                <a:solidFill>
                  <a:srgbClr val="181818"/>
                </a:solidFill>
                <a:latin typeface="Inter"/>
                <a:ea typeface="Inter"/>
                <a:cs typeface="Inter"/>
              </a:rPr>
              <a:t>Inside Slack.</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c8b73721e51d430d"/>
          <a:srcRect xmlns:a="http://schemas.openxmlformats.org/drawingml/2006/main" l="0" t="0" r="0" b="0"/>
          <a:stretch xmlns:a="http://schemas.openxmlformats.org/drawingml/2006/main">
            <a:fillRect l="0" t="0" r="0" b="0"/>
          </a:stretch>
        </p:blipFill>
        <p:spPr>
          <a:xfrm xmlns:a="http://schemas.openxmlformats.org/drawingml/2006/main">
            <a:off x="7524750" y="2019300"/>
            <a:ext cx="1676400" cy="16764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8ACCE954-52A4-4208-BD38-83AE3EA19339}"/>
              </a:ext>
            </a:extLst>
          </p:cNvPr>
          <p:cNvSpPr>
            <a:spLocks xmlns:a="http://schemas.openxmlformats.org/drawingml/2006/main" noGrp="1"/>
          </p:cNvSpPr>
          <p:nvPr/>
        </p:nvSpPr>
        <p:spPr>
          <a:xfrm xmlns:a="http://schemas.openxmlformats.org/drawingml/2006/main">
            <a:off x="876300" y="3695700"/>
            <a:ext cx="6610350" cy="1295400"/>
          </a:xfrm>
          <a:prstGeom xmlns:a="http://schemas.openxmlformats.org/drawingml/2006/main" prst="roundRect">
            <a:avLst>
              <a:gd name="adj" fmla="val 5882"/>
            </a:avLst>
          </a:prstGeom>
          <a:solidFill xmlns:a="http://schemas.openxmlformats.org/drawingml/2006/main">
            <a:srgbClr val="FFFFFF"/>
          </a:solidFill>
          <a:ln xmlns:a="http://schemas.openxmlformats.org/drawingml/2006/main" w="9525">
            <a:solidFill>
              <a:srgbClr val="EDEDED"/>
            </a:solidFill>
          </a:ln>
        </p:spPr>
      </p:sp>
      <p:sp>
        <p:nvSpPr>
          <p:cNvPr id="9" name="">
            <a:extLst xmlns:a="http://schemas.openxmlformats.org/drawingml/2006/main">
              <a:ext uri="{FF2B5EF4-FFF2-40B4-BE49-F238E27FC236}">
                <a16:creationId xmlns:a16="http://schemas.microsoft.com/office/drawing/2014/main" id="{4E040C5E-31F8-4E61-A8B6-997834F56477}"/>
              </a:ext>
            </a:extLst>
          </p:cNvPr>
          <p:cNvSpPr>
            <a:spLocks xmlns:a="http://schemas.openxmlformats.org/drawingml/2006/main" noGrp="1"/>
          </p:cNvSpPr>
          <p:nvPr/>
        </p:nvSpPr>
        <p:spPr>
          <a:xfrm xmlns:a="http://schemas.openxmlformats.org/drawingml/2006/main">
            <a:off x="1181100" y="4000500"/>
            <a:ext cx="5810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650" b="1">
                <a:solidFill>
                  <a:srgbClr val="181818"/>
                </a:solidFill>
                <a:latin typeface="Inter"/>
                <a:ea typeface="Inter"/>
                <a:cs typeface="Inter"/>
              </a:rPr>
              <a:t>The owner still decides. The meeting just starts at the crux.</a:t>
            </a:r>
          </a:p>
        </p:txBody>
      </p:sp>
      <p:sp>
        <p:nvSpPr>
          <p:cNvPr id="10" name="">
            <a:extLst xmlns:a="http://schemas.openxmlformats.org/drawingml/2006/main">
              <a:ext uri="{FF2B5EF4-FFF2-40B4-BE49-F238E27FC236}">
                <a16:creationId xmlns:a16="http://schemas.microsoft.com/office/drawing/2014/main" id="{ACCB8818-7CE2-4357-814C-EA8A19E2E9CA}"/>
              </a:ext>
            </a:extLst>
          </p:cNvPr>
          <p:cNvSpPr>
            <a:spLocks xmlns:a="http://schemas.openxmlformats.org/drawingml/2006/main" noGrp="1"/>
          </p:cNvSpPr>
          <p:nvPr/>
        </p:nvSpPr>
        <p:spPr>
          <a:xfrm xmlns:a="http://schemas.openxmlformats.org/drawingml/2006/main">
            <a:off x="1181100" y="4610100"/>
            <a:ext cx="5810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200">
                <a:solidFill>
                  <a:srgbClr val="5D605E"/>
                </a:solidFill>
                <a:latin typeface="Inter"/>
                <a:ea typeface="Inter"/>
                <a:cs typeface="Inter"/>
              </a:rPr>
              <a:t>Shopee 11.11 creator mix: objective first, role split second, provenance preserved.</a:t>
            </a:r>
          </a:p>
        </p:txBody>
      </p:sp>
      <p:sp>
        <p:nvSpPr>
          <p:cNvPr id="11" name="">
            <a:extLst xmlns:a="http://schemas.openxmlformats.org/drawingml/2006/main">
              <a:ext uri="{FF2B5EF4-FFF2-40B4-BE49-F238E27FC236}">
                <a16:creationId xmlns:a16="http://schemas.microsoft.com/office/drawing/2014/main" id="{0031D4D6-F7C7-42C0-81B8-40CDE397A8F3}"/>
              </a:ext>
            </a:extLst>
          </p:cNvPr>
          <p:cNvSpPr>
            <a:spLocks xmlns:a="http://schemas.openxmlformats.org/drawingml/2006/main" noGrp="1"/>
          </p:cNvSpPr>
          <p:nvPr/>
        </p:nvSpPr>
        <p:spPr>
          <a:xfrm xmlns:a="http://schemas.openxmlformats.org/drawingml/2006/main">
            <a:off x="8020050" y="4000500"/>
            <a:ext cx="1257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125" b="1">
                <a:solidFill>
                  <a:srgbClr val="282828"/>
                </a:solidFill>
                <a:latin typeface="Inter"/>
                <a:ea typeface="Inter"/>
                <a:cs typeface="Inter"/>
              </a:rPr>
              <a:t>Technology</a:t>
            </a:r>
          </a:p>
        </p:txBody>
      </p:sp>
      <p:sp>
        <p:nvSpPr>
          <p:cNvPr id="12" name="">
            <a:extLst xmlns:a="http://schemas.openxmlformats.org/drawingml/2006/main">
              <a:ext uri="{FF2B5EF4-FFF2-40B4-BE49-F238E27FC236}">
                <a16:creationId xmlns:a16="http://schemas.microsoft.com/office/drawing/2014/main" id="{6E26F4AA-FC5C-4ADA-8C95-C01E7DD1D81A}"/>
              </a:ext>
            </a:extLst>
          </p:cNvPr>
          <p:cNvSpPr>
            <a:spLocks xmlns:a="http://schemas.openxmlformats.org/drawingml/2006/main" noGrp="1"/>
          </p:cNvSpPr>
          <p:nvPr/>
        </p:nvSpPr>
        <p:spPr>
          <a:xfrm xmlns:a="http://schemas.openxmlformats.org/drawingml/2006/main">
            <a:off x="9277350" y="4000500"/>
            <a:ext cx="2381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125">
                <a:solidFill>
                  <a:srgbClr val="5D605E"/>
                </a:solidFill>
                <a:latin typeface="Inter"/>
                <a:ea typeface="Inter"/>
                <a:cs typeface="Inter"/>
              </a:rPr>
              <a:t>persistent + ephemeral agents</a:t>
            </a:r>
          </a:p>
        </p:txBody>
      </p:sp>
      <p:sp>
        <p:nvSpPr>
          <p:cNvPr id="13" name="">
            <a:extLst xmlns:a="http://schemas.openxmlformats.org/drawingml/2006/main">
              <a:ext uri="{FF2B5EF4-FFF2-40B4-BE49-F238E27FC236}">
                <a16:creationId xmlns:a16="http://schemas.microsoft.com/office/drawing/2014/main" id="{0A8B431D-D058-4B7F-AE0D-53E1C01E8320}"/>
              </a:ext>
            </a:extLst>
          </p:cNvPr>
          <p:cNvSpPr>
            <a:spLocks xmlns:a="http://schemas.openxmlformats.org/drawingml/2006/main" noGrp="1"/>
          </p:cNvSpPr>
          <p:nvPr/>
        </p:nvSpPr>
        <p:spPr>
          <a:xfrm xmlns:a="http://schemas.openxmlformats.org/drawingml/2006/main">
            <a:off x="8020050" y="4381500"/>
            <a:ext cx="1257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125" b="1">
                <a:solidFill>
                  <a:srgbClr val="282828"/>
                </a:solidFill>
                <a:latin typeface="Inter"/>
                <a:ea typeface="Inter"/>
                <a:cs typeface="Inter"/>
              </a:rPr>
              <a:t>Outcome</a:t>
            </a:r>
          </a:p>
        </p:txBody>
      </p:sp>
      <p:sp>
        <p:nvSpPr>
          <p:cNvPr id="14" name="">
            <a:extLst xmlns:a="http://schemas.openxmlformats.org/drawingml/2006/main">
              <a:ext uri="{FF2B5EF4-FFF2-40B4-BE49-F238E27FC236}">
                <a16:creationId xmlns:a16="http://schemas.microsoft.com/office/drawing/2014/main" id="{D691BCDB-D516-461D-B5DB-4A6E8283A63A}"/>
              </a:ext>
            </a:extLst>
          </p:cNvPr>
          <p:cNvSpPr>
            <a:spLocks xmlns:a="http://schemas.openxmlformats.org/drawingml/2006/main" noGrp="1"/>
          </p:cNvSpPr>
          <p:nvPr/>
        </p:nvSpPr>
        <p:spPr>
          <a:xfrm xmlns:a="http://schemas.openxmlformats.org/drawingml/2006/main">
            <a:off x="9277350" y="4381500"/>
            <a:ext cx="2381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125">
                <a:solidFill>
                  <a:srgbClr val="5D605E"/>
                </a:solidFill>
                <a:latin typeface="Inter"/>
                <a:ea typeface="Inter"/>
                <a:cs typeface="Inter"/>
              </a:rPr>
              <a:t>two decisions before the meeting</a:t>
            </a:r>
          </a:p>
        </p:txBody>
      </p:sp>
      <p:sp>
        <p:nvSpPr>
          <p:cNvPr id="15" name="">
            <a:extLst xmlns:a="http://schemas.openxmlformats.org/drawingml/2006/main">
              <a:ext uri="{FF2B5EF4-FFF2-40B4-BE49-F238E27FC236}">
                <a16:creationId xmlns:a16="http://schemas.microsoft.com/office/drawing/2014/main" id="{DB0190B3-381E-4453-9D7B-60811738C390}"/>
              </a:ext>
            </a:extLst>
          </p:cNvPr>
          <p:cNvSpPr>
            <a:spLocks xmlns:a="http://schemas.openxmlformats.org/drawingml/2006/main" noGrp="1"/>
          </p:cNvSpPr>
          <p:nvPr/>
        </p:nvSpPr>
        <p:spPr>
          <a:xfrm xmlns:a="http://schemas.openxmlformats.org/drawingml/2006/main">
            <a:off x="8020050" y="4762500"/>
            <a:ext cx="1257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125" b="1">
                <a:solidFill>
                  <a:srgbClr val="282828"/>
                </a:solidFill>
                <a:latin typeface="Inter"/>
                <a:ea typeface="Inter"/>
                <a:cs typeface="Inter"/>
              </a:rPr>
              <a:t>Repo</a:t>
            </a:r>
          </a:p>
        </p:txBody>
      </p:sp>
      <p:sp>
        <p:nvSpPr>
          <p:cNvPr id="16" name="">
            <a:extLst xmlns:a="http://schemas.openxmlformats.org/drawingml/2006/main">
              <a:ext uri="{FF2B5EF4-FFF2-40B4-BE49-F238E27FC236}">
                <a16:creationId xmlns:a16="http://schemas.microsoft.com/office/drawing/2014/main" id="{619801BB-3049-454A-83C0-48FA7A925342}"/>
              </a:ext>
            </a:extLst>
          </p:cNvPr>
          <p:cNvSpPr>
            <a:spLocks xmlns:a="http://schemas.openxmlformats.org/drawingml/2006/main" noGrp="1"/>
          </p:cNvSpPr>
          <p:nvPr/>
        </p:nvSpPr>
        <p:spPr>
          <a:xfrm xmlns:a="http://schemas.openxmlformats.org/drawingml/2006/main">
            <a:off x="8629650" y="4762500"/>
            <a:ext cx="285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125" b="1">
                <a:solidFill>
                  <a:srgbClr val="2636B8"/>
                </a:solidFill>
                <a:latin typeface="Inter"/>
                <a:ea typeface="Inter"/>
                <a:cs typeface="Inter"/>
              </a:rPr>
              <a:t>github.com/leewaichong/opensea</a:t>
            </a:r>
          </a:p>
        </p:txBody>
      </p:sp>
      <p:sp>
        <p:nvSpPr>
          <p:cNvPr id="17" name="">
            <a:extLst xmlns:a="http://schemas.openxmlformats.org/drawingml/2006/main">
              <a:ext uri="{FF2B5EF4-FFF2-40B4-BE49-F238E27FC236}">
                <a16:creationId xmlns:a16="http://schemas.microsoft.com/office/drawing/2014/main" id="{7528D991-F51F-44D2-A949-8AF1C3C3BA92}"/>
              </a:ext>
            </a:extLst>
          </p:cNvPr>
          <p:cNvSpPr>
            <a:spLocks xmlns:a="http://schemas.openxmlformats.org/drawingml/2006/main" noGrp="1"/>
          </p:cNvSpPr>
          <p:nvPr/>
        </p:nvSpPr>
        <p:spPr>
          <a:xfrm xmlns:a="http://schemas.openxmlformats.org/drawingml/2006/main">
            <a:off x="876300" y="5562600"/>
            <a:ext cx="9906000" cy="514350"/>
          </a:xfrm>
          <a:prstGeom xmlns:a="http://schemas.openxmlformats.org/drawingml/2006/main" prst="roundRect">
            <a:avLst>
              <a:gd name="adj" fmla="val 14815"/>
            </a:avLst>
          </a:prstGeom>
          <a:solidFill xmlns:a="http://schemas.openxmlformats.org/drawingml/2006/main">
            <a:srgbClr val="17191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C1EB426-CF08-4F17-AB2A-AA5FA2D8BB04}"/>
              </a:ext>
            </a:extLst>
          </p:cNvPr>
          <p:cNvSpPr>
            <a:spLocks xmlns:a="http://schemas.openxmlformats.org/drawingml/2006/main" noGrp="1"/>
          </p:cNvSpPr>
          <p:nvPr/>
        </p:nvSpPr>
        <p:spPr>
          <a:xfrm xmlns:a="http://schemas.openxmlformats.org/drawingml/2006/main">
            <a:off x="1181100" y="5715000"/>
            <a:ext cx="1333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975" b="1">
                <a:solidFill>
                  <a:srgbClr val="BFC5C9"/>
                </a:solidFill>
                <a:latin typeface="Inter"/>
                <a:ea typeface="Inter"/>
                <a:cs typeface="Inter"/>
              </a:rPr>
              <a:t>The vision</a:t>
            </a:r>
          </a:p>
        </p:txBody>
      </p:sp>
      <p:sp>
        <p:nvSpPr>
          <p:cNvPr id="19" name="">
            <a:extLst xmlns:a="http://schemas.openxmlformats.org/drawingml/2006/main">
              <a:ext uri="{FF2B5EF4-FFF2-40B4-BE49-F238E27FC236}">
                <a16:creationId xmlns:a16="http://schemas.microsoft.com/office/drawing/2014/main" id="{CEF6751B-20E6-44FE-B08D-F6E8626108A4}"/>
              </a:ext>
            </a:extLst>
          </p:cNvPr>
          <p:cNvSpPr>
            <a:spLocks xmlns:a="http://schemas.openxmlformats.org/drawingml/2006/main" noGrp="1"/>
          </p:cNvSpPr>
          <p:nvPr/>
        </p:nvSpPr>
        <p:spPr>
          <a:xfrm xmlns:a="http://schemas.openxmlformats.org/drawingml/2006/main">
            <a:off x="2705100" y="5715000"/>
            <a:ext cx="723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38100" tIns="38100" rIns="38100" bIns="38100">
            <a:noAutofit/>
          </a:bodyPr>
          <a:lstStyle xmlns:a="http://schemas.openxmlformats.org/drawingml/2006/main"/>
          <a:p xmlns:a="http://schemas.openxmlformats.org/drawingml/2006/main">
            <a:r>
              <a:rPr sz="1500" b="1">
                <a:solidFill>
                  <a:srgbClr val="FFFFFF"/>
                </a:solidFill>
                <a:latin typeface="Inter"/>
                <a:ea typeface="Inter"/>
                <a:cs typeface="Inter"/>
              </a:rPr>
              <a:t>Every recurring meeting gets a pre-meeting reasoning loop.</a:t>
            </a:r>
          </a:p>
        </p:txBody>
      </p:sp>
    </p:spTree>
    <p:extLst>
      <p:ext uri="{BB962C8B-B14F-4D97-AF65-F5344CB8AC3E}">
        <p14:creationId xmlns:p14="http://schemas.microsoft.com/office/powerpoint/2010/main" val="116475093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2026-06-06T08:17:40.0690000Z</dcterms:created>
  <dcterms:modified xsi:type="dcterms:W3CDTF">2026-06-06T08:17:40.0690000Z</dcterms:modified>
</coreProperties>
</file>